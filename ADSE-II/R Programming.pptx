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64" r:id="rId5"/>
    <p:sldId id="260" r:id="rId6"/>
    <p:sldId id="265" r:id="rId7"/>
    <p:sldId id="261" r:id="rId8"/>
    <p:sldId id="266" r:id="rId9"/>
    <p:sldId id="262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8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99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3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2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7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82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9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30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959CC6E-069E-476C-93A5-F1CA1E3F3FF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11405B18-2743-4FAA-AE8A-1488BF8C83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76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E0B8-489D-492E-B38C-77B61EFD5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D7718-CC1C-446D-B2F2-D5CB7552BA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Faraz Inam</a:t>
            </a:r>
          </a:p>
        </p:txBody>
      </p:sp>
    </p:spTree>
    <p:extLst>
      <p:ext uri="{BB962C8B-B14F-4D97-AF65-F5344CB8AC3E}">
        <p14:creationId xmlns:p14="http://schemas.microsoft.com/office/powerpoint/2010/main" val="260179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What is R Programming</a:t>
            </a:r>
          </a:p>
          <a:p>
            <a:r>
              <a:rPr lang="en-US" sz="1800" dirty="0"/>
              <a:t>R is a programming language specifically designed for statistical computing and data analysis. Unlike general-purpose languages such as C++ or Java, R focuses heavily on working with data—cleaning it, analyzing it, and visualizing it. It was created by statisticians, which is why it has built-in support for mathematical models, probability, and graphs.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When you use R, you're not just writing code—you are interacting with data directly. For example, instead of manually calculating averages or plotting graphs, R can do it instantly with built-in functions. This makes it extremely powerful for fields like data science, machine learning, and research.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2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/>
              <a:t>History:</a:t>
            </a:r>
          </a:p>
          <a:p>
            <a:pPr marL="0" indent="0">
              <a:buNone/>
            </a:pPr>
            <a:r>
              <a:rPr lang="en-US" sz="1700" dirty="0"/>
              <a:t>The modern implementation of S is R.</a:t>
            </a:r>
          </a:p>
          <a:p>
            <a:pPr marL="0" indent="0">
              <a:buNone/>
            </a:pPr>
            <a:r>
              <a:rPr lang="en-US" sz="1700" dirty="0"/>
              <a:t>Ross Ihaka and Robert Gentleman at the University of Auckland, New Zealand developed R in 1990.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Versions:</a:t>
            </a:r>
          </a:p>
          <a:p>
            <a:pPr marL="0" indent="0">
              <a:buNone/>
            </a:pPr>
            <a:r>
              <a:rPr lang="en-US" sz="1700" dirty="0"/>
              <a:t>Version 1.0.0 (2000)</a:t>
            </a:r>
          </a:p>
          <a:p>
            <a:pPr marL="0" indent="0">
              <a:buNone/>
            </a:pPr>
            <a:r>
              <a:rPr lang="en-US" sz="1700" dirty="0"/>
              <a:t>Version 2.0.0 (2004)</a:t>
            </a:r>
          </a:p>
          <a:p>
            <a:pPr marL="0" indent="0">
              <a:buNone/>
            </a:pPr>
            <a:r>
              <a:rPr lang="en-US" sz="1700" dirty="0"/>
              <a:t>Version 3.0.0 (2013)</a:t>
            </a:r>
          </a:p>
          <a:p>
            <a:pPr marL="0" indent="0">
              <a:buNone/>
            </a:pPr>
            <a:r>
              <a:rPr lang="en-US" sz="1700" dirty="0"/>
              <a:t>Version 4.0.0 (2020)	</a:t>
            </a:r>
          </a:p>
          <a:p>
            <a:pPr marL="0" indent="0">
              <a:buNone/>
            </a:pPr>
            <a:r>
              <a:rPr lang="en-US" sz="1700" dirty="0"/>
              <a:t>R 4.6.0: The current stable release, issued on April 24, 2026.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35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600" b="1" dirty="0"/>
              <a:t>R Features: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R can be easily integrated with many other technologies and frameworks like Hadoop and HDFS.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It can also integrate with other programming languages C, C++, python, Java, and JavaScript etc.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There are more than 20,000 packages for R on online repositories CRAN (Comprehensive R Archive Network), Bioconductor, and GitHub.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Cross Platform.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Performs fast calculations.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Powerful graphics: product publication-quality graphs and plots of any kind with its base package. with added packages like ggplot2 and </a:t>
            </a:r>
            <a:r>
              <a:rPr lang="en-US" sz="2200" dirty="0" err="1"/>
              <a:t>plotly</a:t>
            </a:r>
            <a:r>
              <a:rPr lang="en-US" sz="2200" dirty="0"/>
              <a:t> the possibilities are endless.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There are about 2 million job openings for r programmers worldwide. Companies hire R programmers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for many roles like data analysts, business analysts, data visualization experts, and business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intelligent experts.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For machine learning the best algorithms can be implemented with 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dirty="0"/>
              <a:t>The most profound industry that makes use of R is DATA SCIENCE.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96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/>
              <a:t>Installation and Setup</a:t>
            </a:r>
          </a:p>
          <a:p>
            <a:pPr marL="0" indent="0">
              <a:buNone/>
            </a:pPr>
            <a:r>
              <a:rPr lang="en-US" sz="1700" dirty="0"/>
              <a:t>Before writing any R code, you need an environment where you can run it. First, you install R itself, which is the core engine. However, working directly with R can feel basic, so most developers use RStudio, which is an IDE (Integrated Development Environment).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900" b="1" dirty="0"/>
              <a:t>RStudio provides:</a:t>
            </a:r>
          </a:p>
          <a:p>
            <a:pPr fontAlgn="base"/>
            <a:r>
              <a:rPr lang="en-US" sz="1700" dirty="0"/>
              <a:t>A script editor (where you write code)</a:t>
            </a:r>
          </a:p>
          <a:p>
            <a:pPr fontAlgn="base"/>
            <a:r>
              <a:rPr lang="en-US" sz="1700" dirty="0"/>
              <a:t>A console (where code runs)</a:t>
            </a:r>
          </a:p>
          <a:p>
            <a:pPr fontAlgn="base"/>
            <a:r>
              <a:rPr lang="en-US" sz="1700" dirty="0"/>
              <a:t>A workspace (where variables are stored)</a:t>
            </a:r>
          </a:p>
          <a:p>
            <a:pPr fontAlgn="base"/>
            <a:r>
              <a:rPr lang="en-US" sz="1700" dirty="0"/>
              <a:t>A plotting area (for graphs)</a:t>
            </a:r>
          </a:p>
          <a:p>
            <a:r>
              <a:rPr lang="en-US" sz="1700" dirty="0"/>
              <a:t>This structured interface makes learning and development much easier, especially for beginners.</a:t>
            </a:r>
          </a:p>
          <a:p>
            <a:pPr marL="0" indent="0">
              <a:buNone/>
            </a:pPr>
            <a:r>
              <a:rPr lang="en-US" sz="1700" dirty="0"/>
              <a:t>R Console: </a:t>
            </a:r>
            <a:r>
              <a:rPr lang="en-US" sz="1700" dirty="0">
                <a:hlinkClick r:id="rId2"/>
              </a:rPr>
              <a:t>https://cran.r-project.org/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IDE: </a:t>
            </a:r>
            <a:r>
              <a:rPr lang="en-US" sz="1700" dirty="0">
                <a:hlinkClick r:id="rId3"/>
              </a:rPr>
              <a:t>https://posit.co/download/rstudio-desktop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66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b="1" dirty="0"/>
              <a:t>When you open an R studio, you will see four sections in R Studio</a:t>
            </a:r>
          </a:p>
          <a:p>
            <a:pPr marL="0" indent="0">
              <a:buNone/>
            </a:pPr>
            <a:r>
              <a:rPr lang="en-US" sz="2000" dirty="0"/>
              <a:t>top left -&gt; scripting window</a:t>
            </a:r>
          </a:p>
          <a:p>
            <a:pPr marL="0" indent="0">
              <a:buNone/>
            </a:pPr>
            <a:r>
              <a:rPr lang="en-US" sz="2000" dirty="0"/>
              <a:t>bottom left -&gt; response window</a:t>
            </a:r>
          </a:p>
          <a:p>
            <a:pPr marL="0" indent="0">
              <a:buNone/>
            </a:pPr>
            <a:r>
              <a:rPr lang="en-US" sz="2000" dirty="0"/>
              <a:t>bottom right -&gt; result window / view</a:t>
            </a:r>
          </a:p>
          <a:p>
            <a:pPr marL="0" indent="0">
              <a:buNone/>
            </a:pPr>
            <a:r>
              <a:rPr lang="en-US" sz="2000" dirty="0"/>
              <a:t>top right -&gt; variables, data frames/structures, vectors , list, arrays listing show in this window.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 zoom in window =&gt; tools -&gt; global options -&gt; appearance -&gt; zoom</a:t>
            </a:r>
          </a:p>
          <a:p>
            <a:pPr marL="0" indent="0">
              <a:buNone/>
            </a:pPr>
            <a:r>
              <a:rPr lang="en-US" sz="2000" dirty="0"/>
              <a:t>To change theme =&gt; tools -&gt; global options -&gt; appearance -&gt; editor theme</a:t>
            </a:r>
          </a:p>
          <a:p>
            <a:pPr marL="0" indent="0">
              <a:buNone/>
            </a:pPr>
            <a:r>
              <a:rPr lang="en-US" sz="2000" dirty="0"/>
              <a:t>To execute code -&gt; ctrl + enter.</a:t>
            </a:r>
          </a:p>
          <a:p>
            <a:pPr marL="0" indent="0">
              <a:buNone/>
            </a:pPr>
            <a:r>
              <a:rPr lang="en-US" sz="2000" dirty="0"/>
              <a:t>To get new script file -&gt; click on + icon under file tab.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too find packages -&gt; search </a:t>
            </a:r>
            <a:r>
              <a:rPr lang="en-US" sz="2000" dirty="0" err="1"/>
              <a:t>crantastics</a:t>
            </a:r>
            <a:r>
              <a:rPr lang="en-US" sz="2000" dirty="0"/>
              <a:t> in google</a:t>
            </a:r>
          </a:p>
          <a:p>
            <a:pPr marL="0" indent="0">
              <a:buNone/>
            </a:pPr>
            <a:r>
              <a:rPr lang="en-US" sz="2000" dirty="0"/>
              <a:t>to find documents and articles posted by different people -&gt; r bloggers</a:t>
            </a:r>
          </a:p>
        </p:txBody>
      </p:sp>
    </p:spTree>
    <p:extLst>
      <p:ext uri="{BB962C8B-B14F-4D97-AF65-F5344CB8AC3E}">
        <p14:creationId xmlns:p14="http://schemas.microsoft.com/office/powerpoint/2010/main" val="157792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900" b="1" dirty="0"/>
              <a:t>Basic Syntax in R</a:t>
            </a:r>
            <a:endParaRPr lang="en-US" sz="2900" b="1" dirty="0">
              <a:effectLst/>
            </a:endParaRPr>
          </a:p>
          <a:p>
            <a:pPr marL="0" indent="0">
              <a:buNone/>
            </a:pPr>
            <a:r>
              <a:rPr lang="en-US" sz="2700" dirty="0"/>
              <a:t>R syntax is relatively simple, but it has some unique features. One of the most important is the assignment operator &lt;-, which is used to assign values to variables.</a:t>
            </a:r>
          </a:p>
          <a:p>
            <a:pPr marL="0" indent="0">
              <a:buNone/>
            </a:pPr>
            <a:r>
              <a:rPr lang="en-US" sz="2700" dirty="0"/>
              <a:t>name &lt;- “Faraz“ (universal acceptance, highly recommended)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/>
              <a:t>But we have two more options to assign variable in R.</a:t>
            </a:r>
          </a:p>
          <a:p>
            <a:pPr marL="0" indent="0">
              <a:buNone/>
            </a:pPr>
            <a:r>
              <a:rPr lang="en-US" sz="2700" dirty="0"/>
              <a:t>name = "Faraz Inam";</a:t>
            </a:r>
          </a:p>
          <a:p>
            <a:pPr marL="0" indent="0">
              <a:buNone/>
            </a:pPr>
            <a:r>
              <a:rPr lang="en-US" sz="2700" dirty="0"/>
              <a:t>"Faraz Inam" -&gt;  name; </a:t>
            </a:r>
          </a:p>
          <a:p>
            <a:pPr marL="0" indent="0"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b="1" dirty="0"/>
              <a:t>To display output, R provides functions like:</a:t>
            </a:r>
          </a:p>
          <a:p>
            <a:pPr marL="0" indent="0">
              <a:buNone/>
            </a:pPr>
            <a:r>
              <a:rPr lang="en-US" sz="2700" dirty="0"/>
              <a:t>print(x)</a:t>
            </a:r>
          </a:p>
          <a:p>
            <a:pPr marL="0" indent="0">
              <a:buNone/>
            </a:pPr>
            <a:r>
              <a:rPr lang="en-US" sz="2700" dirty="0"/>
              <a:t>cat("Hello World")</a:t>
            </a:r>
          </a:p>
          <a:p>
            <a:pPr marL="0" indent="0">
              <a:buNone/>
            </a:pPr>
            <a:r>
              <a:rPr lang="en-US" sz="2700" dirty="0"/>
              <a:t>The print() function displays values, while cat() is used for cleaner output, especially when combining text.</a:t>
            </a:r>
          </a:p>
          <a:p>
            <a:pPr marL="0" indent="0">
              <a:buNone/>
            </a:pPr>
            <a:r>
              <a:rPr lang="en-US" sz="2700" dirty="0"/>
              <a:t>Unlike some other languages, R is case-sensitive, so x and X are different variables.</a:t>
            </a:r>
          </a:p>
          <a:p>
            <a:pPr marL="0" indent="0">
              <a:buNone/>
            </a:pPr>
            <a:r>
              <a:rPr lang="en-US" sz="2700" dirty="0"/>
              <a:t>Comment in R: # This is a comment</a:t>
            </a:r>
          </a:p>
        </p:txBody>
      </p:sp>
    </p:spTree>
    <p:extLst>
      <p:ext uri="{BB962C8B-B14F-4D97-AF65-F5344CB8AC3E}">
        <p14:creationId xmlns:p14="http://schemas.microsoft.com/office/powerpoint/2010/main" val="390857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95562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000" b="1" dirty="0"/>
              <a:t>variable naming rules:</a:t>
            </a:r>
          </a:p>
          <a:p>
            <a:pPr marL="0" indent="0">
              <a:buNone/>
            </a:pPr>
            <a:r>
              <a:rPr lang="en-US" sz="4300" dirty="0"/>
              <a:t>It can be initialize with letter or dot(.). and can contain letter, number, underscore and dot.</a:t>
            </a:r>
          </a:p>
          <a:p>
            <a:pPr marL="0" indent="0">
              <a:buNone/>
            </a:pPr>
            <a:r>
              <a:rPr lang="en-US" sz="4300" dirty="0"/>
              <a:t>No any special symbol is allowed in variable creation except dot and underscore, but underscore can't be used as a first character.</a:t>
            </a:r>
          </a:p>
          <a:p>
            <a:pPr marL="0" indent="0">
              <a:buNone/>
            </a:pPr>
            <a:endParaRPr lang="en-US" sz="3100" dirty="0"/>
          </a:p>
          <a:p>
            <a:pPr marL="0" indent="0">
              <a:buNone/>
            </a:pPr>
            <a:r>
              <a:rPr lang="en-US" sz="4500" b="1" dirty="0"/>
              <a:t>Example:</a:t>
            </a:r>
          </a:p>
          <a:p>
            <a:pPr marL="0" indent="0">
              <a:buNone/>
            </a:pPr>
            <a:r>
              <a:rPr lang="en-US" sz="4300" dirty="0"/>
              <a:t>name = "faraz";</a:t>
            </a:r>
          </a:p>
          <a:p>
            <a:pPr marL="0" indent="0">
              <a:buNone/>
            </a:pPr>
            <a:r>
              <a:rPr lang="en-US" sz="4300" dirty="0"/>
              <a:t>.name = "faraz";</a:t>
            </a:r>
          </a:p>
          <a:p>
            <a:pPr marL="0" indent="0">
              <a:buNone/>
            </a:pPr>
            <a:r>
              <a:rPr lang="en-US" sz="4300" dirty="0"/>
              <a:t>name_ = "faraz";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US" sz="4300" dirty="0"/>
              <a:t>_name = "faraz" -&gt; not allowed</a:t>
            </a:r>
          </a:p>
          <a:p>
            <a:pPr marL="0" indent="0">
              <a:buNone/>
            </a:pPr>
            <a:r>
              <a:rPr lang="en-US" sz="4300" dirty="0"/>
              <a:t>+name = "faraz"; -&gt; not allowed</a:t>
            </a:r>
          </a:p>
          <a:p>
            <a:pPr marL="0" indent="0">
              <a:buNone/>
            </a:pPr>
            <a:r>
              <a:rPr lang="en-US" sz="4300" dirty="0"/>
              <a:t>*name = "faraz"; -&gt; not allowed</a:t>
            </a:r>
          </a:p>
          <a:p>
            <a:pPr marL="0" indent="0">
              <a:buNone/>
            </a:pPr>
            <a:r>
              <a:rPr lang="en-US" sz="4300" dirty="0"/>
              <a:t>$name$ = "faraz"; -&gt; not allowed</a:t>
            </a:r>
          </a:p>
          <a:p>
            <a:pPr marL="0" indent="0">
              <a:buNone/>
            </a:pPr>
            <a:r>
              <a:rPr lang="en-US" sz="4300" dirty="0"/>
              <a:t>name = "faraz"; -&gt; not allowed  ... etc.</a:t>
            </a:r>
          </a:p>
        </p:txBody>
      </p:sp>
    </p:spTree>
    <p:extLst>
      <p:ext uri="{BB962C8B-B14F-4D97-AF65-F5344CB8AC3E}">
        <p14:creationId xmlns:p14="http://schemas.microsoft.com/office/powerpoint/2010/main" val="76059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User Input in R (Taking input from user)</a:t>
            </a:r>
          </a:p>
          <a:p>
            <a:pPr marL="0" indent="0">
              <a:buNone/>
            </a:pPr>
            <a:r>
              <a:rPr lang="en-US" sz="1800" dirty="0"/>
              <a:t>R allows user interaction through the </a:t>
            </a:r>
            <a:r>
              <a:rPr lang="en-US" sz="1800" dirty="0" err="1"/>
              <a:t>readline</a:t>
            </a:r>
            <a:r>
              <a:rPr lang="en-US" sz="1800" dirty="0"/>
              <a:t>() function. This function displays a prompt and waits for user input.</a:t>
            </a:r>
          </a:p>
          <a:p>
            <a:pPr marL="0" indent="0">
              <a:buNone/>
            </a:pPr>
            <a:r>
              <a:rPr lang="en-US" sz="1800" dirty="0"/>
              <a:t>name &lt;- </a:t>
            </a:r>
            <a:r>
              <a:rPr lang="en-US" sz="1800" dirty="0" err="1"/>
              <a:t>readline</a:t>
            </a:r>
            <a:r>
              <a:rPr lang="en-US" sz="1800" dirty="0"/>
              <a:t>(prompt = "Enter your name: ")</a:t>
            </a:r>
          </a:p>
          <a:p>
            <a:pPr marL="0" indent="0">
              <a:buNone/>
            </a:pPr>
            <a:r>
              <a:rPr lang="en-US" sz="1800" dirty="0"/>
              <a:t>However, an important concept here is that R treats all user input as text (character type). So if you expect a number, you must convert it:</a:t>
            </a:r>
          </a:p>
          <a:p>
            <a:pPr marL="0" indent="0">
              <a:buNone/>
            </a:pPr>
            <a:r>
              <a:rPr lang="en-US" sz="1800" dirty="0"/>
              <a:t>num &lt;- </a:t>
            </a:r>
            <a:r>
              <a:rPr lang="en-US" sz="1800" dirty="0" err="1"/>
              <a:t>as.integer</a:t>
            </a:r>
            <a:r>
              <a:rPr lang="en-US" sz="1800" dirty="0"/>
              <a:t>(</a:t>
            </a:r>
            <a:r>
              <a:rPr lang="en-US" sz="1800" dirty="0" err="1"/>
              <a:t>readline</a:t>
            </a:r>
            <a:r>
              <a:rPr lang="en-US" sz="1800" dirty="0"/>
              <a:t>(prompt = "Enter a number: "))</a:t>
            </a:r>
          </a:p>
          <a:p>
            <a:pPr marL="0" indent="0">
              <a:buNone/>
            </a:pPr>
            <a:r>
              <a:rPr lang="en-US" sz="1800" dirty="0"/>
              <a:t>Understanding this conversion is important, because failing to convert types can lead to errors later.</a:t>
            </a:r>
          </a:p>
          <a:p>
            <a:pPr marL="0" indent="0">
              <a:buNone/>
            </a:pPr>
            <a:br>
              <a:rPr lang="en-US" dirty="0"/>
            </a:b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41232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600" b="1" dirty="0"/>
              <a:t>Data Types in R</a:t>
            </a:r>
          </a:p>
          <a:p>
            <a:pPr marL="0" indent="0">
              <a:buNone/>
            </a:pPr>
            <a:r>
              <a:rPr lang="en-US" sz="2000" dirty="0"/>
              <a:t>In R, every value has a data type, which defines what kind of data it is and what operations can be performed on it.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The most common types are:</a:t>
            </a:r>
          </a:p>
          <a:p>
            <a:pPr marL="0" indent="0" fontAlgn="base">
              <a:buNone/>
            </a:pPr>
            <a:r>
              <a:rPr lang="en-US" sz="2000" dirty="0"/>
              <a:t>Numeric: for decimal numbers (e.g., 10.5)</a:t>
            </a:r>
          </a:p>
          <a:p>
            <a:pPr marL="0" indent="0" fontAlgn="base">
              <a:buNone/>
            </a:pPr>
            <a:r>
              <a:rPr lang="en-US" sz="2000" dirty="0"/>
              <a:t>Integer: whole numbers (e.g., 5L) (L is used to convert numeric in integer) and </a:t>
            </a:r>
            <a:r>
              <a:rPr lang="en-US" sz="2000" dirty="0" err="1"/>
              <a:t>as.integer</a:t>
            </a:r>
            <a:r>
              <a:rPr lang="en-US" sz="2000" dirty="0"/>
              <a:t>(22) -&gt; is an alternate of L</a:t>
            </a:r>
          </a:p>
          <a:p>
            <a:pPr marL="0" indent="0" fontAlgn="base">
              <a:buNone/>
            </a:pPr>
            <a:r>
              <a:rPr lang="en-US" sz="2000" dirty="0"/>
              <a:t>Character: text (e.g., "Hello")</a:t>
            </a:r>
          </a:p>
          <a:p>
            <a:pPr marL="0" indent="0" fontAlgn="base">
              <a:buNone/>
            </a:pPr>
            <a:r>
              <a:rPr lang="en-US" sz="2000" dirty="0"/>
              <a:t>Logical: TRUE or FALSE values</a:t>
            </a:r>
          </a:p>
          <a:p>
            <a:pPr marL="0" indent="0" fontAlgn="base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i="1" u="sng" dirty="0"/>
              <a:t>For example:</a:t>
            </a:r>
          </a:p>
          <a:p>
            <a:pPr marL="0" indent="0">
              <a:buNone/>
            </a:pPr>
            <a:r>
              <a:rPr lang="en-US" sz="2000" dirty="0"/>
              <a:t>x &lt;- 10        # numeric</a:t>
            </a:r>
          </a:p>
          <a:p>
            <a:pPr marL="0" indent="0">
              <a:buNone/>
            </a:pPr>
            <a:r>
              <a:rPr lang="en-US" sz="2000" dirty="0"/>
              <a:t>y &lt;- "Hello"   # character</a:t>
            </a:r>
          </a:p>
          <a:p>
            <a:pPr marL="0" indent="0">
              <a:buNone/>
            </a:pPr>
            <a:r>
              <a:rPr lang="en-US" sz="2000" dirty="0"/>
              <a:t>z &lt;- TRUE      # logical</a:t>
            </a:r>
          </a:p>
          <a:p>
            <a:pPr marL="0" indent="0">
              <a:buNone/>
            </a:pPr>
            <a:r>
              <a:rPr lang="en-US" sz="2000" dirty="0"/>
              <a:t>Understanding data types is important because R behaves differently depending on the type. For instance, you cannot perform arithmetic operations on text.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801E3-B6D7-45E5-A772-4E5BDBD6A25F}"/>
              </a:ext>
            </a:extLst>
          </p:cNvPr>
          <p:cNvSpPr txBox="1"/>
          <p:nvPr/>
        </p:nvSpPr>
        <p:spPr>
          <a:xfrm>
            <a:off x="4028661" y="4161182"/>
            <a:ext cx="7606748" cy="61555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dirty="0"/>
              <a:t>class(num) -&gt; class method is used to check the datatype category/class of a value </a:t>
            </a:r>
            <a:r>
              <a:rPr lang="en-US" sz="1700" dirty="0" err="1"/>
              <a:t>typeof</a:t>
            </a:r>
            <a:r>
              <a:rPr lang="en-US" sz="1700" dirty="0"/>
              <a:t>(num) -&gt; type of is used to check the type of a value;</a:t>
            </a:r>
          </a:p>
        </p:txBody>
      </p:sp>
    </p:spTree>
    <p:extLst>
      <p:ext uri="{BB962C8B-B14F-4D97-AF65-F5344CB8AC3E}">
        <p14:creationId xmlns:p14="http://schemas.microsoft.com/office/powerpoint/2010/main" val="181353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Conversion of Datatypes</a:t>
            </a:r>
            <a:endParaRPr lang="en-US" b="1" dirty="0"/>
          </a:p>
          <a:p>
            <a:pPr marL="0" indent="0">
              <a:buNone/>
            </a:pPr>
            <a:r>
              <a:rPr lang="en-US" sz="1700" dirty="0"/>
              <a:t>num1&lt;-</a:t>
            </a:r>
            <a:r>
              <a:rPr lang="en-US" sz="1700" dirty="0" err="1"/>
              <a:t>as.numeric</a:t>
            </a:r>
            <a:r>
              <a:rPr lang="en-US" sz="1700" dirty="0"/>
              <a:t>(17L)</a:t>
            </a:r>
          </a:p>
          <a:p>
            <a:pPr marL="0" indent="0">
              <a:buNone/>
            </a:pPr>
            <a:r>
              <a:rPr lang="en-US" sz="1700" dirty="0"/>
              <a:t>num2&lt;-</a:t>
            </a:r>
            <a:r>
              <a:rPr lang="en-US" sz="1700" dirty="0" err="1"/>
              <a:t>as.numeric</a:t>
            </a:r>
            <a:r>
              <a:rPr lang="en-US" sz="1700" dirty="0"/>
              <a:t>(77-67i)</a:t>
            </a:r>
          </a:p>
          <a:p>
            <a:pPr marL="0" indent="0">
              <a:buNone/>
            </a:pPr>
            <a:r>
              <a:rPr lang="en-US" sz="1700" dirty="0"/>
              <a:t>num3&lt;-</a:t>
            </a:r>
            <a:r>
              <a:rPr lang="en-US" sz="1700" dirty="0" err="1"/>
              <a:t>as.numeric</a:t>
            </a:r>
            <a:r>
              <a:rPr lang="en-US" sz="1700" dirty="0"/>
              <a:t>(TRUE)</a:t>
            </a:r>
          </a:p>
          <a:p>
            <a:pPr marL="0" indent="0">
              <a:buNone/>
            </a:pPr>
            <a:r>
              <a:rPr lang="en-US" sz="1700" dirty="0"/>
              <a:t>num5&lt;-</a:t>
            </a:r>
            <a:r>
              <a:rPr lang="en-US" sz="1700" dirty="0" err="1"/>
              <a:t>as.numeric</a:t>
            </a:r>
            <a:r>
              <a:rPr lang="en-US" sz="1700" dirty="0"/>
              <a:t>("123")</a:t>
            </a:r>
          </a:p>
          <a:p>
            <a:pPr marL="0" indent="0">
              <a:buNone/>
            </a:pPr>
            <a:r>
              <a:rPr lang="en-US" sz="1700" dirty="0"/>
              <a:t>num6&lt;-</a:t>
            </a:r>
            <a:r>
              <a:rPr lang="en-US" sz="1700" dirty="0" err="1"/>
              <a:t>as.numeric</a:t>
            </a:r>
            <a:r>
              <a:rPr lang="en-US" sz="1700" dirty="0"/>
              <a:t>("abc123") -&gt; warning thrown (NAN)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num5&lt;-</a:t>
            </a:r>
            <a:r>
              <a:rPr lang="en-US" sz="1700" dirty="0" err="1"/>
              <a:t>as.integer</a:t>
            </a:r>
            <a:r>
              <a:rPr lang="en-US" sz="1700" dirty="0"/>
              <a:t>("123")</a:t>
            </a:r>
          </a:p>
          <a:p>
            <a:pPr marL="0" indent="0">
              <a:buNone/>
            </a:pPr>
            <a:r>
              <a:rPr lang="en-US" sz="1700" dirty="0"/>
              <a:t>num5&lt;-</a:t>
            </a:r>
            <a:r>
              <a:rPr lang="en-US" sz="1700" dirty="0" err="1"/>
              <a:t>as.complex</a:t>
            </a:r>
            <a:r>
              <a:rPr lang="en-US" sz="1700" dirty="0"/>
              <a:t>(123)</a:t>
            </a:r>
          </a:p>
          <a:p>
            <a:pPr marL="0" indent="0">
              <a:buNone/>
            </a:pPr>
            <a:r>
              <a:rPr lang="en-US" sz="1700" dirty="0"/>
              <a:t>num5&lt;-</a:t>
            </a:r>
            <a:r>
              <a:rPr lang="en-US" sz="1700" dirty="0" err="1"/>
              <a:t>as.numeric</a:t>
            </a:r>
            <a:r>
              <a:rPr lang="en-US" sz="1700" dirty="0"/>
              <a:t>("</a:t>
            </a:r>
            <a:r>
              <a:rPr lang="en-US" sz="1700" dirty="0" err="1"/>
              <a:t>xyz</a:t>
            </a:r>
            <a:r>
              <a:rPr lang="en-US" sz="1700" dirty="0"/>
              <a:t>")</a:t>
            </a:r>
          </a:p>
          <a:p>
            <a:pPr marL="0" indent="0">
              <a:buNone/>
            </a:pPr>
            <a:r>
              <a:rPr lang="en-US" sz="1700" dirty="0"/>
              <a:t>num5&lt;-</a:t>
            </a:r>
            <a:r>
              <a:rPr lang="en-US" sz="1700" dirty="0" err="1"/>
              <a:t>as.logical</a:t>
            </a:r>
            <a:r>
              <a:rPr lang="en-US" sz="1700" dirty="0"/>
              <a:t>(789)</a:t>
            </a:r>
          </a:p>
        </p:txBody>
      </p:sp>
    </p:spTree>
    <p:extLst>
      <p:ext uri="{BB962C8B-B14F-4D97-AF65-F5344CB8AC3E}">
        <p14:creationId xmlns:p14="http://schemas.microsoft.com/office/powerpoint/2010/main" val="1361236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/>
              <a:t>Operators</a:t>
            </a:r>
            <a:endParaRPr lang="en-US" b="1" dirty="0"/>
          </a:p>
          <a:p>
            <a:pPr marL="0" indent="0">
              <a:buNone/>
            </a:pPr>
            <a:r>
              <a:rPr lang="en-US" sz="1700" dirty="0"/>
              <a:t>Arithmetic (+, -, *, /, %%, %/%, ^) </a:t>
            </a:r>
          </a:p>
          <a:p>
            <a:pPr marL="0" indent="0">
              <a:buNone/>
            </a:pPr>
            <a:r>
              <a:rPr lang="en-US" sz="1700" dirty="0"/>
              <a:t>Assignment, ( &lt;-, -&gt;, =, &lt;&lt;-, -&gt;&gt;)</a:t>
            </a:r>
          </a:p>
          <a:p>
            <a:pPr marL="0" indent="0">
              <a:buNone/>
            </a:pPr>
            <a:r>
              <a:rPr lang="en-US" sz="1700" dirty="0"/>
              <a:t>Logical,  &amp;, |, !, &amp;&amp;, ||</a:t>
            </a:r>
          </a:p>
          <a:p>
            <a:pPr marL="0" indent="0">
              <a:buNone/>
            </a:pPr>
            <a:r>
              <a:rPr lang="en-US" sz="1700" dirty="0"/>
              <a:t>Relational (&lt;, &gt;, &lt;=, &gt;=, ==, !=)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u="sng" dirty="0"/>
              <a:t>Arithmetic </a:t>
            </a:r>
          </a:p>
          <a:p>
            <a:pPr marL="0" indent="0">
              <a:buNone/>
            </a:pPr>
            <a:r>
              <a:rPr lang="en-US" sz="1700" dirty="0"/>
              <a:t>a&lt;-2;</a:t>
            </a:r>
          </a:p>
          <a:p>
            <a:pPr marL="0" indent="0">
              <a:buNone/>
            </a:pPr>
            <a:r>
              <a:rPr lang="en-US" sz="1700" dirty="0"/>
              <a:t>b&lt;-6;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a+b</a:t>
            </a:r>
            <a:r>
              <a:rPr lang="en-US" sz="1700" dirty="0"/>
              <a:t>)	 print(a-b)	 print(a*b)	 print(a/b)	 print(a%%b)		 print(a%/%b)	print(</a:t>
            </a:r>
            <a:r>
              <a:rPr lang="en-US" sz="1700" dirty="0" err="1"/>
              <a:t>a^b</a:t>
            </a:r>
            <a:r>
              <a:rPr lang="en-US" sz="1700" dirty="0"/>
              <a:t>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u="sng" dirty="0"/>
              <a:t>Assignment, Logical,  &amp; Relational Operators, Do it yourself.</a:t>
            </a:r>
          </a:p>
        </p:txBody>
      </p:sp>
    </p:spTree>
    <p:extLst>
      <p:ext uri="{BB962C8B-B14F-4D97-AF65-F5344CB8AC3E}">
        <p14:creationId xmlns:p14="http://schemas.microsoft.com/office/powerpoint/2010/main" val="222727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/>
              <a:t>Operators</a:t>
            </a:r>
            <a:endParaRPr lang="en-US" b="1" dirty="0"/>
          </a:p>
          <a:p>
            <a:pPr marL="0" indent="0">
              <a:buNone/>
            </a:pPr>
            <a:r>
              <a:rPr lang="en-US" sz="1700" dirty="0"/>
              <a:t>c1&lt;-c(2,4,6) </a:t>
            </a:r>
          </a:p>
          <a:p>
            <a:pPr marL="0" indent="0">
              <a:buNone/>
            </a:pPr>
            <a:r>
              <a:rPr lang="en-US" sz="1700" dirty="0"/>
              <a:t>c2&lt;-c(10,12,14)</a:t>
            </a:r>
          </a:p>
          <a:p>
            <a:pPr marL="0" indent="0">
              <a:buNone/>
            </a:pPr>
            <a:r>
              <a:rPr lang="en-US" sz="1700" i="1" dirty="0"/>
              <a:t>c() this is vector, and vector is a collection of similar datatypes. Will learn it in vectors topic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print(c1+c2) print(c1-c2) print(c1*c2) print(c1/c2) print(c1%%c2) print(c1%/%c2) print(c1^c2)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x&lt;-c(2.5, TRUE, 3+7i)</a:t>
            </a:r>
          </a:p>
          <a:p>
            <a:pPr marL="0" indent="0">
              <a:buNone/>
            </a:pPr>
            <a:r>
              <a:rPr lang="en-US" sz="1700" dirty="0"/>
              <a:t>y&lt;-c(3.3, TRUE, 1-8i)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x&amp;y</a:t>
            </a:r>
            <a:r>
              <a:rPr lang="en-US" sz="1700" dirty="0"/>
              <a:t>)</a:t>
            </a:r>
          </a:p>
          <a:p>
            <a:pPr marL="0" indent="0">
              <a:buNone/>
            </a:pPr>
            <a:r>
              <a:rPr lang="en-US" sz="1700" dirty="0"/>
              <a:t>print(x&amp;&amp;y)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x|y</a:t>
            </a:r>
            <a:r>
              <a:rPr lang="en-US" sz="1700" dirty="0"/>
              <a:t>)17;</a:t>
            </a:r>
          </a:p>
          <a:p>
            <a:pPr marL="0" indent="0">
              <a:buNone/>
            </a:pPr>
            <a:r>
              <a:rPr lang="en-US" sz="1700" dirty="0"/>
              <a:t>print(x||y)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x!y</a:t>
            </a:r>
            <a:r>
              <a:rPr lang="en-US" sz="17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3467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200" b="1" dirty="0"/>
              <a:t>Conditional Statement (if)</a:t>
            </a:r>
          </a:p>
          <a:p>
            <a:pPr marL="0" indent="0">
              <a:buNone/>
            </a:pPr>
            <a:r>
              <a:rPr lang="en-US" sz="1700" dirty="0"/>
              <a:t>x&lt;-17;</a:t>
            </a:r>
          </a:p>
          <a:p>
            <a:pPr marL="0" indent="0">
              <a:buNone/>
            </a:pPr>
            <a:r>
              <a:rPr lang="en-US" sz="1700" dirty="0"/>
              <a:t>if(</a:t>
            </a:r>
            <a:r>
              <a:rPr lang="en-US" sz="1700" dirty="0" err="1"/>
              <a:t>is.integer</a:t>
            </a:r>
            <a:r>
              <a:rPr lang="en-US" sz="1700" dirty="0"/>
              <a:t>(x)){</a:t>
            </a:r>
          </a:p>
          <a:p>
            <a:pPr marL="0" indent="0">
              <a:buNone/>
            </a:pPr>
            <a:r>
              <a:rPr lang="en-US" sz="1700" dirty="0"/>
              <a:t>print("Yes");</a:t>
            </a:r>
          </a:p>
          <a:p>
            <a:pPr marL="0" indent="0">
              <a:buNone/>
            </a:pPr>
            <a:r>
              <a:rPr lang="en-US" sz="1700" dirty="0"/>
              <a:t>} else{		</a:t>
            </a:r>
            <a:r>
              <a:rPr lang="en-US" sz="1700" i="1" dirty="0"/>
              <a:t>-&gt; in R programming braces ({) of else must be start in the same line as the else start, otherwise error will be thrown.</a:t>
            </a:r>
          </a:p>
          <a:p>
            <a:pPr marL="0" indent="0">
              <a:buNone/>
            </a:pPr>
            <a:r>
              <a:rPr lang="en-US" sz="1700" dirty="0"/>
              <a:t>print("No");}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find&lt;-c("education", "is", "the", "key", "to", "unlock", "the", "golden", "door", "of", "freedom");</a:t>
            </a:r>
          </a:p>
          <a:p>
            <a:pPr marL="0" indent="0">
              <a:buNone/>
            </a:pPr>
            <a:r>
              <a:rPr lang="en-US" sz="1700" dirty="0"/>
              <a:t>if("key" %in% find){</a:t>
            </a:r>
          </a:p>
          <a:p>
            <a:pPr marL="0" indent="0">
              <a:buNone/>
            </a:pPr>
            <a:r>
              <a:rPr lang="en-US" sz="1700" dirty="0"/>
              <a:t>print("Available");</a:t>
            </a:r>
          </a:p>
          <a:p>
            <a:pPr marL="0" indent="0">
              <a:buNone/>
            </a:pPr>
            <a:r>
              <a:rPr lang="en-US" sz="1700" dirty="0"/>
              <a:t>} else{</a:t>
            </a:r>
          </a:p>
          <a:p>
            <a:pPr marL="0" indent="0">
              <a:buNone/>
            </a:pPr>
            <a:r>
              <a:rPr lang="en-US" sz="1700" dirty="0"/>
              <a:t>print("Not Available");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A0066-B0F6-4504-8D6D-9054BD18C009}"/>
              </a:ext>
            </a:extLst>
          </p:cNvPr>
          <p:cNvSpPr txBox="1"/>
          <p:nvPr/>
        </p:nvSpPr>
        <p:spPr>
          <a:xfrm>
            <a:off x="5128210" y="4953001"/>
            <a:ext cx="3841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Task -&gt; </a:t>
            </a:r>
            <a:r>
              <a:rPr lang="en-US" b="1" dirty="0" err="1"/>
              <a:t>Cteate</a:t>
            </a:r>
            <a:r>
              <a:rPr lang="en-US" b="1" dirty="0"/>
              <a:t> Garde Calculator</a:t>
            </a:r>
          </a:p>
        </p:txBody>
      </p:sp>
    </p:spTree>
    <p:extLst>
      <p:ext uri="{BB962C8B-B14F-4D97-AF65-F5344CB8AC3E}">
        <p14:creationId xmlns:p14="http://schemas.microsoft.com/office/powerpoint/2010/main" val="3690437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50225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200" b="1" dirty="0"/>
              <a:t>SWICH CASE</a:t>
            </a:r>
            <a:endParaRPr lang="en-US" sz="1700" b="1" dirty="0"/>
          </a:p>
          <a:p>
            <a:pPr marL="0" indent="0">
              <a:buNone/>
            </a:pPr>
            <a:r>
              <a:rPr lang="en-US" sz="1700" dirty="0"/>
              <a:t>It can be implemented in two ways -&gt; by index or by matching value</a:t>
            </a:r>
          </a:p>
          <a:p>
            <a:pPr marL="0" indent="0">
              <a:buNone/>
            </a:pPr>
            <a:r>
              <a:rPr lang="en-US" sz="1700" dirty="0"/>
              <a:t>syntax: switch(expression, case1, case2, case3, ...)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u="sng" dirty="0"/>
              <a:t>//by index</a:t>
            </a:r>
          </a:p>
          <a:p>
            <a:pPr marL="0" indent="0">
              <a:buNone/>
            </a:pPr>
            <a:r>
              <a:rPr lang="en-US" sz="1700" dirty="0"/>
              <a:t>x&lt;-switch(2, "Ali", "Ahsan", "Ahmed", "Ammar")</a:t>
            </a:r>
          </a:p>
          <a:p>
            <a:pPr marL="0" indent="0">
              <a:buNone/>
            </a:pPr>
            <a:r>
              <a:rPr lang="en-US" sz="1700" dirty="0"/>
              <a:t>print(x)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u="sng" dirty="0"/>
              <a:t>//by matching value</a:t>
            </a:r>
          </a:p>
          <a:p>
            <a:pPr marL="0" indent="0">
              <a:buNone/>
            </a:pPr>
            <a:r>
              <a:rPr lang="en-US" sz="1700" dirty="0"/>
              <a:t>a&lt;-"10";</a:t>
            </a:r>
          </a:p>
          <a:p>
            <a:pPr marL="0" indent="0">
              <a:buNone/>
            </a:pPr>
            <a:r>
              <a:rPr lang="en-US" sz="1700" dirty="0"/>
              <a:t>x&lt;-switch(</a:t>
            </a:r>
          </a:p>
          <a:p>
            <a:pPr marL="0" indent="0">
              <a:buNone/>
            </a:pPr>
            <a:r>
              <a:rPr lang="en-US" sz="1700" dirty="0"/>
              <a:t>"5"="Ali",</a:t>
            </a:r>
          </a:p>
          <a:p>
            <a:pPr marL="0" indent="0">
              <a:buNone/>
            </a:pPr>
            <a:r>
              <a:rPr lang="en-US" sz="1700" dirty="0"/>
              <a:t>"10"="Ahsan", </a:t>
            </a:r>
          </a:p>
          <a:p>
            <a:pPr marL="0" indent="0">
              <a:buNone/>
            </a:pPr>
            <a:r>
              <a:rPr lang="en-US" sz="1700" dirty="0"/>
              <a:t>"15"="Ahmed", </a:t>
            </a:r>
          </a:p>
          <a:p>
            <a:pPr marL="0" indent="0">
              <a:buNone/>
            </a:pPr>
            <a:r>
              <a:rPr lang="en-US" sz="1700" dirty="0"/>
              <a:t>"20"="Ammar")</a:t>
            </a:r>
          </a:p>
          <a:p>
            <a:pPr marL="0" indent="0">
              <a:buNone/>
            </a:pPr>
            <a:r>
              <a:rPr lang="en-US" sz="1700" dirty="0"/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683251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b="1" dirty="0"/>
              <a:t>Next and Break Statement:</a:t>
            </a:r>
            <a:endParaRPr lang="en-US" sz="1700" dirty="0"/>
          </a:p>
          <a:p>
            <a:pPr marL="0" indent="0">
              <a:buNone/>
            </a:pPr>
            <a:r>
              <a:rPr lang="en-US" sz="1700" u="sng" dirty="0"/>
              <a:t>//Next</a:t>
            </a:r>
          </a:p>
          <a:p>
            <a:pPr marL="0" indent="0">
              <a:buNone/>
            </a:pPr>
            <a:r>
              <a:rPr lang="en-US" sz="1700" dirty="0"/>
              <a:t>x&lt;-1:10;</a:t>
            </a:r>
          </a:p>
          <a:p>
            <a:pPr marL="0" indent="0">
              <a:buNone/>
            </a:pPr>
            <a:r>
              <a:rPr lang="en-US" sz="1700" dirty="0"/>
              <a:t>for(result in x){</a:t>
            </a:r>
          </a:p>
          <a:p>
            <a:pPr marL="0" indent="0">
              <a:buNone/>
            </a:pPr>
            <a:r>
              <a:rPr lang="en-US" sz="1700" dirty="0"/>
              <a:t>if(result == 7){</a:t>
            </a:r>
          </a:p>
          <a:p>
            <a:pPr marL="0" indent="0">
              <a:buNone/>
            </a:pPr>
            <a:r>
              <a:rPr lang="en-US" sz="1700" dirty="0"/>
              <a:t>next }</a:t>
            </a:r>
          </a:p>
          <a:p>
            <a:pPr marL="0" indent="0">
              <a:buNone/>
            </a:pPr>
            <a:r>
              <a:rPr lang="en-US" sz="1700" dirty="0"/>
              <a:t>print(x); }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u="sng" dirty="0"/>
              <a:t>//Break</a:t>
            </a:r>
          </a:p>
          <a:p>
            <a:pPr marL="0" indent="0">
              <a:buNone/>
            </a:pPr>
            <a:r>
              <a:rPr lang="en-US" sz="1700" dirty="0"/>
              <a:t>a&lt;-1;</a:t>
            </a:r>
          </a:p>
          <a:p>
            <a:pPr marL="0" indent="0">
              <a:buNone/>
            </a:pPr>
            <a:r>
              <a:rPr lang="en-US" sz="1700" dirty="0"/>
              <a:t>repeat{		</a:t>
            </a:r>
            <a:r>
              <a:rPr lang="en-US" sz="1700" i="1" dirty="0"/>
              <a:t>-&gt; there is no condition specification to break loop in 'repeat' therefore we use break</a:t>
            </a:r>
          </a:p>
          <a:p>
            <a:pPr marL="0" indent="0">
              <a:buNone/>
            </a:pPr>
            <a:r>
              <a:rPr lang="en-US" sz="1700" dirty="0"/>
              <a:t>print("Welcome to R Programming);</a:t>
            </a:r>
          </a:p>
          <a:p>
            <a:pPr marL="0" indent="0">
              <a:buNone/>
            </a:pPr>
            <a:r>
              <a:rPr lang="en-US" sz="1700" dirty="0"/>
              <a:t>if(a &gt;= 4){</a:t>
            </a:r>
          </a:p>
          <a:p>
            <a:pPr marL="0" indent="0">
              <a:buNone/>
            </a:pPr>
            <a:r>
              <a:rPr lang="en-US" sz="1700" dirty="0"/>
              <a:t>break;</a:t>
            </a:r>
          </a:p>
          <a:p>
            <a:pPr marL="0" indent="0">
              <a:buNone/>
            </a:pPr>
            <a:r>
              <a:rPr lang="en-US" sz="1700" dirty="0"/>
              <a:t>} };</a:t>
            </a:r>
          </a:p>
        </p:txBody>
      </p:sp>
    </p:spTree>
    <p:extLst>
      <p:ext uri="{BB962C8B-B14F-4D97-AF65-F5344CB8AC3E}">
        <p14:creationId xmlns:p14="http://schemas.microsoft.com/office/powerpoint/2010/main" val="437481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/>
              <a:t>Loops:</a:t>
            </a:r>
            <a:endParaRPr lang="en-US" sz="1700" u="sng" dirty="0"/>
          </a:p>
          <a:p>
            <a:pPr marL="0" indent="0">
              <a:buNone/>
            </a:pPr>
            <a:r>
              <a:rPr lang="en-US" sz="1700" u="sng" dirty="0"/>
              <a:t>//For Loop</a:t>
            </a:r>
          </a:p>
          <a:p>
            <a:pPr marL="0" indent="0">
              <a:buNone/>
            </a:pPr>
            <a:endParaRPr lang="en-US" sz="1700" u="sng" dirty="0"/>
          </a:p>
          <a:p>
            <a:pPr marL="0" indent="0">
              <a:buNone/>
            </a:pPr>
            <a:endParaRPr lang="en-US" sz="1700" u="sng" dirty="0"/>
          </a:p>
          <a:p>
            <a:pPr marL="0" indent="0">
              <a:buNone/>
            </a:pPr>
            <a:endParaRPr lang="en-US" sz="1700" u="sng" dirty="0"/>
          </a:p>
          <a:p>
            <a:pPr marL="0" indent="0">
              <a:buNone/>
            </a:pPr>
            <a:endParaRPr lang="en-US" sz="1700" u="sng" dirty="0"/>
          </a:p>
          <a:p>
            <a:pPr marL="0" indent="0">
              <a:buNone/>
            </a:pPr>
            <a:r>
              <a:rPr lang="en-US" sz="1700" u="sng" dirty="0"/>
              <a:t>for(</a:t>
            </a:r>
            <a:r>
              <a:rPr lang="en-US" sz="1700" u="sng" dirty="0" err="1"/>
              <a:t>i</a:t>
            </a:r>
            <a:r>
              <a:rPr lang="en-US" sz="1700" u="sng" dirty="0"/>
              <a:t> in 1:10){</a:t>
            </a:r>
          </a:p>
          <a:p>
            <a:pPr marL="0" indent="0">
              <a:buNone/>
            </a:pPr>
            <a:r>
              <a:rPr lang="en-US" sz="1700" u="sng" dirty="0"/>
              <a:t>print(paste("Number: ", </a:t>
            </a:r>
            <a:r>
              <a:rPr lang="en-US" sz="1700" u="sng" dirty="0" err="1"/>
              <a:t>i</a:t>
            </a:r>
            <a:r>
              <a:rPr lang="en-US" sz="1700" u="sng" dirty="0"/>
              <a:t>));  -&gt; paste </a:t>
            </a:r>
            <a:r>
              <a:rPr lang="en-US" sz="1700" u="sng" dirty="0" err="1"/>
              <a:t>fn</a:t>
            </a:r>
            <a:r>
              <a:rPr lang="en-US" sz="1700" u="sng" dirty="0"/>
              <a:t> is used for string </a:t>
            </a:r>
            <a:r>
              <a:rPr lang="en-US" sz="1700" u="sng" dirty="0" err="1"/>
              <a:t>concatination</a:t>
            </a:r>
            <a:r>
              <a:rPr lang="en-US" sz="1700" u="sng" dirty="0"/>
              <a:t> </a:t>
            </a:r>
          </a:p>
          <a:p>
            <a:pPr marL="0" indent="0">
              <a:buNone/>
            </a:pPr>
            <a:r>
              <a:rPr lang="en-US" sz="1700" u="sng" dirty="0"/>
              <a:t>}</a:t>
            </a:r>
          </a:p>
          <a:p>
            <a:pPr marL="0" indent="0">
              <a:buNone/>
            </a:pPr>
            <a:endParaRPr lang="en-US" sz="1700" u="sng" dirty="0"/>
          </a:p>
          <a:p>
            <a:pPr marL="0" indent="0">
              <a:buNone/>
            </a:pPr>
            <a:r>
              <a:rPr lang="en-US" sz="1700" u="sng" dirty="0" err="1"/>
              <a:t>vege</a:t>
            </a:r>
            <a:r>
              <a:rPr lang="en-US" sz="1700" u="sng" dirty="0"/>
              <a:t>&lt;-c("carrot", "radish", "eggplant", "potato", "onion")</a:t>
            </a:r>
          </a:p>
          <a:p>
            <a:pPr marL="0" indent="0">
              <a:buNone/>
            </a:pPr>
            <a:r>
              <a:rPr lang="en-US" sz="1700" u="sng" dirty="0"/>
              <a:t>for(</a:t>
            </a:r>
            <a:r>
              <a:rPr lang="en-US" sz="1700" u="sng" dirty="0" err="1"/>
              <a:t>i</a:t>
            </a:r>
            <a:r>
              <a:rPr lang="en-US" sz="1700" u="sng" dirty="0"/>
              <a:t> in </a:t>
            </a:r>
            <a:r>
              <a:rPr lang="en-US" sz="1700" u="sng" dirty="0" err="1"/>
              <a:t>vege</a:t>
            </a:r>
            <a:r>
              <a:rPr lang="en-US" sz="1700" u="sng" dirty="0"/>
              <a:t>){</a:t>
            </a:r>
          </a:p>
          <a:p>
            <a:pPr marL="0" indent="0">
              <a:buNone/>
            </a:pPr>
            <a:r>
              <a:rPr lang="en-US" sz="1700" u="sng" dirty="0"/>
              <a:t>print(</a:t>
            </a:r>
            <a:r>
              <a:rPr lang="en-US" sz="1700" u="sng" dirty="0" err="1"/>
              <a:t>vege</a:t>
            </a:r>
            <a:r>
              <a:rPr lang="en-US" sz="1700" u="sng" dirty="0"/>
              <a:t>);</a:t>
            </a:r>
          </a:p>
          <a:p>
            <a:pPr marL="0" indent="0">
              <a:buNone/>
            </a:pPr>
            <a:r>
              <a:rPr lang="en-US" sz="1700" u="sng" dirty="0"/>
              <a:t>}</a:t>
            </a: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1563E-DE38-4657-80EA-38DFA6F57909}"/>
              </a:ext>
            </a:extLst>
          </p:cNvPr>
          <p:cNvSpPr txBox="1"/>
          <p:nvPr/>
        </p:nvSpPr>
        <p:spPr>
          <a:xfrm>
            <a:off x="4147930" y="2431919"/>
            <a:ext cx="15392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for(</a:t>
            </a:r>
            <a:r>
              <a:rPr lang="en-US" u="sng" dirty="0" err="1"/>
              <a:t>i</a:t>
            </a:r>
            <a:r>
              <a:rPr lang="en-US" u="sng" dirty="0"/>
              <a:t> in 1:10){</a:t>
            </a:r>
          </a:p>
          <a:p>
            <a:r>
              <a:rPr lang="en-US" u="sng" dirty="0"/>
              <a:t>print(</a:t>
            </a:r>
            <a:r>
              <a:rPr lang="en-US" u="sng" dirty="0" err="1"/>
              <a:t>i</a:t>
            </a:r>
            <a:r>
              <a:rPr lang="en-US" u="sng" dirty="0"/>
              <a:t>);</a:t>
            </a:r>
          </a:p>
          <a:p>
            <a:r>
              <a:rPr lang="en-US" u="sng" dirty="0"/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A7257-4855-4141-8D55-B3A428756843}"/>
              </a:ext>
            </a:extLst>
          </p:cNvPr>
          <p:cNvSpPr txBox="1"/>
          <p:nvPr/>
        </p:nvSpPr>
        <p:spPr>
          <a:xfrm>
            <a:off x="2264109" y="2431918"/>
            <a:ext cx="12009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x&lt;-1:10;</a:t>
            </a:r>
          </a:p>
          <a:p>
            <a:r>
              <a:rPr lang="en-US" u="sng" dirty="0"/>
              <a:t>for(</a:t>
            </a:r>
            <a:r>
              <a:rPr lang="en-US" u="sng" dirty="0" err="1"/>
              <a:t>i</a:t>
            </a:r>
            <a:r>
              <a:rPr lang="en-US" u="sng" dirty="0"/>
              <a:t> in x){</a:t>
            </a:r>
          </a:p>
          <a:p>
            <a:r>
              <a:rPr lang="en-US" u="sng" dirty="0"/>
              <a:t>print(</a:t>
            </a:r>
            <a:r>
              <a:rPr lang="en-US" u="sng" dirty="0" err="1"/>
              <a:t>i</a:t>
            </a:r>
            <a:r>
              <a:rPr lang="en-US" u="sng" dirty="0"/>
              <a:t>);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61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Repeat loop	</a:t>
            </a:r>
          </a:p>
          <a:p>
            <a:pPr marL="0" indent="0">
              <a:buNone/>
            </a:pPr>
            <a:r>
              <a:rPr lang="en-US" sz="1700" u="sng" dirty="0"/>
              <a:t>Repeat {} there is no condition specification to break loop in 'repeat' therefore we use break</a:t>
            </a:r>
          </a:p>
          <a:p>
            <a:pPr marL="0" indent="0">
              <a:buNone/>
            </a:pPr>
            <a:endParaRPr lang="en-US" sz="1700" u="sng" dirty="0"/>
          </a:p>
          <a:p>
            <a:pPr marL="0" indent="0">
              <a:buNone/>
            </a:pPr>
            <a:r>
              <a:rPr lang="en-US" sz="1700" dirty="0"/>
              <a:t>x&lt;-c("Welcome", "to", "R", "programming");</a:t>
            </a:r>
          </a:p>
          <a:p>
            <a:pPr marL="0" indent="0">
              <a:buNone/>
            </a:pPr>
            <a:r>
              <a:rPr lang="en-US" sz="1700" dirty="0"/>
              <a:t>y&lt;-2;</a:t>
            </a:r>
          </a:p>
          <a:p>
            <a:pPr marL="0" indent="0">
              <a:buNone/>
            </a:pPr>
            <a:r>
              <a:rPr lang="en-US" sz="1700" dirty="0"/>
              <a:t>repeat{</a:t>
            </a:r>
          </a:p>
          <a:p>
            <a:pPr marL="0" indent="0">
              <a:buNone/>
            </a:pPr>
            <a:r>
              <a:rPr lang="en-US" sz="1700" dirty="0"/>
              <a:t>print(x);</a:t>
            </a:r>
          </a:p>
          <a:p>
            <a:pPr marL="0" indent="0">
              <a:buNone/>
            </a:pPr>
            <a:r>
              <a:rPr lang="en-US" sz="1700" dirty="0"/>
              <a:t>x&lt;-x+1;</a:t>
            </a:r>
          </a:p>
          <a:p>
            <a:pPr marL="0" indent="0">
              <a:buNone/>
            </a:pPr>
            <a:r>
              <a:rPr lang="en-US" sz="1700" dirty="0"/>
              <a:t>if(x&gt;3){</a:t>
            </a:r>
          </a:p>
          <a:p>
            <a:pPr marL="0" indent="0">
              <a:buNone/>
            </a:pPr>
            <a:r>
              <a:rPr lang="en-US" sz="1700" dirty="0"/>
              <a:t>break;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3156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while loop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w&lt;-c("Hello", "while", "loop", "in", "R");</a:t>
            </a:r>
          </a:p>
          <a:p>
            <a:pPr marL="0" indent="0">
              <a:buNone/>
            </a:pPr>
            <a:r>
              <a:rPr lang="en-US" sz="1700" dirty="0"/>
              <a:t>x&lt;-1;</a:t>
            </a:r>
          </a:p>
          <a:p>
            <a:pPr marL="0" indent="0">
              <a:buNone/>
            </a:pPr>
            <a:r>
              <a:rPr lang="en-US" sz="1700" dirty="0"/>
              <a:t>while(x&lt;7){</a:t>
            </a:r>
          </a:p>
          <a:p>
            <a:pPr marL="0" indent="0">
              <a:buNone/>
            </a:pPr>
            <a:r>
              <a:rPr lang="en-US" sz="1700" dirty="0"/>
              <a:t>print(w);</a:t>
            </a:r>
          </a:p>
          <a:p>
            <a:pPr marL="0" indent="0">
              <a:buNone/>
            </a:pPr>
            <a:r>
              <a:rPr lang="en-US" sz="1700" dirty="0"/>
              <a:t>x&lt;-x+1;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8134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b="1" dirty="0"/>
              <a:t>Function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//User Defined Functions</a:t>
            </a:r>
          </a:p>
          <a:p>
            <a:pPr marL="0" indent="0">
              <a:buNone/>
            </a:pPr>
            <a:r>
              <a:rPr lang="en-US" dirty="0"/>
              <a:t>syntax: </a:t>
            </a:r>
            <a:r>
              <a:rPr lang="en-US" dirty="0" err="1"/>
              <a:t>functionName</a:t>
            </a:r>
            <a:r>
              <a:rPr lang="en-US" dirty="0"/>
              <a:t>&lt;-function(agr1, agr2,  ...){}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new.function</a:t>
            </a:r>
            <a:r>
              <a:rPr lang="en-US" dirty="0"/>
              <a:t>&lt;-function(){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in 1:5){</a:t>
            </a:r>
          </a:p>
          <a:p>
            <a:pPr marL="0" indent="0">
              <a:buNone/>
            </a:pPr>
            <a:r>
              <a:rPr lang="en-US" dirty="0"/>
              <a:t>print(i^2);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new.function</a:t>
            </a:r>
            <a:r>
              <a:rPr lang="en-US" dirty="0"/>
              <a:t>();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58336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new.function</a:t>
            </a:r>
            <a:r>
              <a:rPr lang="en-US" dirty="0"/>
              <a:t>&lt;-function(</a:t>
            </a:r>
            <a:r>
              <a:rPr lang="en-US" dirty="0" err="1"/>
              <a:t>x,y,z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res&lt;-</a:t>
            </a:r>
            <a:r>
              <a:rPr lang="en-US" dirty="0" err="1"/>
              <a:t>x+y+z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print(res)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new.function</a:t>
            </a:r>
            <a:r>
              <a:rPr lang="en-US" dirty="0"/>
              <a:t>(2, 4, 6);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new.function</a:t>
            </a:r>
            <a:r>
              <a:rPr lang="en-US" dirty="0"/>
              <a:t>&lt;-function(a=6, b=8){</a:t>
            </a:r>
          </a:p>
          <a:p>
            <a:pPr marL="0" indent="0">
              <a:buNone/>
            </a:pPr>
            <a:r>
              <a:rPr lang="en-US" dirty="0"/>
              <a:t>res&lt;-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print(res)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new.function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err="1"/>
              <a:t>new.function</a:t>
            </a:r>
            <a:r>
              <a:rPr lang="en-US" dirty="0"/>
              <a:t>(3,9);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94287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//Built-In Functions</a:t>
            </a:r>
          </a:p>
          <a:p>
            <a:pPr marL="0" indent="0">
              <a:buNone/>
            </a:pPr>
            <a:r>
              <a:rPr lang="en-US" sz="1700" dirty="0"/>
              <a:t>print(ceiling(3.1))	print(floor(3.6))		print(abs(-3))	print(sqrt(49))</a:t>
            </a:r>
          </a:p>
          <a:p>
            <a:pPr marL="0" indent="0">
              <a:buNone/>
            </a:pPr>
            <a:r>
              <a:rPr lang="en-US" sz="1700" dirty="0"/>
              <a:t>print(sin(90))	print(log(7))	print(exp(5))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n&lt;-"Faraz Inam";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toupper</a:t>
            </a:r>
            <a:r>
              <a:rPr lang="en-US" sz="1700" dirty="0"/>
              <a:t>(n))		print(</a:t>
            </a:r>
            <a:r>
              <a:rPr lang="en-US" sz="1700" dirty="0" err="1"/>
              <a:t>tolower</a:t>
            </a:r>
            <a:r>
              <a:rPr lang="en-US" sz="1700" dirty="0"/>
              <a:t>(n))</a:t>
            </a:r>
          </a:p>
          <a:p>
            <a:pPr marL="0" indent="0">
              <a:buNone/>
            </a:pPr>
            <a:r>
              <a:rPr lang="en-US" sz="1700" dirty="0"/>
              <a:t>x&lt;-"Faraz Inam";</a:t>
            </a:r>
          </a:p>
          <a:p>
            <a:pPr marL="0" indent="0">
              <a:buNone/>
            </a:pPr>
            <a:r>
              <a:rPr lang="en-US" sz="1700" dirty="0" err="1"/>
              <a:t>substr</a:t>
            </a:r>
            <a:r>
              <a:rPr lang="en-US" sz="1700" dirty="0"/>
              <a:t>(x, 2, 5);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700" dirty="0"/>
              <a:t>name&lt;-c(3.4, 7.9, 6.2)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trunc</a:t>
            </a:r>
            <a:r>
              <a:rPr lang="en-US" sz="1700" dirty="0"/>
              <a:t>(num))</a:t>
            </a:r>
          </a:p>
        </p:txBody>
      </p:sp>
    </p:spTree>
    <p:extLst>
      <p:ext uri="{BB962C8B-B14F-4D97-AF65-F5344CB8AC3E}">
        <p14:creationId xmlns:p14="http://schemas.microsoft.com/office/powerpoint/2010/main" val="372064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ins&lt;-c("</a:t>
            </a:r>
            <a:r>
              <a:rPr lang="en-US" dirty="0" err="1"/>
              <a:t>aptech</a:t>
            </a:r>
            <a:r>
              <a:rPr lang="en-US" dirty="0"/>
              <a:t>", "learning", "</a:t>
            </a:r>
            <a:r>
              <a:rPr lang="en-US" dirty="0" err="1"/>
              <a:t>pakistan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 err="1"/>
              <a:t>patt</a:t>
            </a:r>
            <a:r>
              <a:rPr lang="en-US" dirty="0"/>
              <a:t>&lt;-"^learning";</a:t>
            </a:r>
          </a:p>
          <a:p>
            <a:pPr marL="0" indent="0">
              <a:buNone/>
            </a:pPr>
            <a:r>
              <a:rPr lang="en-US" dirty="0"/>
              <a:t>print(grep(</a:t>
            </a:r>
            <a:r>
              <a:rPr lang="en-US" dirty="0" err="1"/>
              <a:t>patt</a:t>
            </a:r>
            <a:r>
              <a:rPr lang="en-US" dirty="0"/>
              <a:t>, ins));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&lt;-c(1:5);</a:t>
            </a:r>
          </a:p>
          <a:p>
            <a:pPr marL="0" indent="0">
              <a:buNone/>
            </a:pPr>
            <a:r>
              <a:rPr lang="en-US" dirty="0"/>
              <a:t>plus&lt;-sum(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print(plus);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&lt;-c(1:5, 9, 31, 7, 11);</a:t>
            </a:r>
          </a:p>
          <a:p>
            <a:pPr marL="0" indent="0">
              <a:buNone/>
            </a:pPr>
            <a:r>
              <a:rPr lang="en-US" dirty="0"/>
              <a:t>mi&lt;-min(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print(mi);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&lt;-c(1:5, 9, 31, 7, 11);</a:t>
            </a:r>
          </a:p>
          <a:p>
            <a:pPr marL="0" indent="0">
              <a:buNone/>
            </a:pPr>
            <a:r>
              <a:rPr lang="en-US" dirty="0"/>
              <a:t>mx&lt;-max(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print(mx);</a:t>
            </a:r>
          </a:p>
        </p:txBody>
      </p:sp>
    </p:spTree>
    <p:extLst>
      <p:ext uri="{BB962C8B-B14F-4D97-AF65-F5344CB8AC3E}">
        <p14:creationId xmlns:p14="http://schemas.microsoft.com/office/powerpoint/2010/main" val="2518837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Data Structure:</a:t>
            </a:r>
          </a:p>
          <a:p>
            <a:pPr marL="0" indent="0">
              <a:buNone/>
            </a:pPr>
            <a:r>
              <a:rPr lang="en-US" sz="1700" dirty="0"/>
              <a:t>Data structure is a way to store data in a memory.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000" b="1" dirty="0"/>
              <a:t>Types of data structure in R programming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700" dirty="0"/>
              <a:t>vector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700" dirty="0"/>
              <a:t>matrix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700" dirty="0"/>
              <a:t>array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700" dirty="0"/>
              <a:t>list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700" dirty="0"/>
              <a:t>data frames</a:t>
            </a:r>
          </a:p>
        </p:txBody>
      </p:sp>
    </p:spTree>
    <p:extLst>
      <p:ext uri="{BB962C8B-B14F-4D97-AF65-F5344CB8AC3E}">
        <p14:creationId xmlns:p14="http://schemas.microsoft.com/office/powerpoint/2010/main" val="524317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Vector: </a:t>
            </a:r>
          </a:p>
          <a:p>
            <a:pPr marL="0" indent="0">
              <a:buNone/>
            </a:pPr>
            <a:r>
              <a:rPr lang="en-US" sz="1700" dirty="0"/>
              <a:t>It is a basic data structure in R, it is a sequence of element which share same data type.</a:t>
            </a:r>
          </a:p>
          <a:p>
            <a:pPr marL="0" indent="0">
              <a:buNone/>
            </a:pPr>
            <a:r>
              <a:rPr lang="en-US" sz="1700" dirty="0"/>
              <a:t>All the elements of vectors are known as components.</a:t>
            </a:r>
          </a:p>
          <a:p>
            <a:pPr marL="0" indent="0">
              <a:buNone/>
            </a:pPr>
            <a:r>
              <a:rPr lang="en-US" sz="1700" dirty="0"/>
              <a:t>Vector is represented in </a:t>
            </a:r>
            <a:r>
              <a:rPr lang="en-US" sz="1700" b="1" dirty="0"/>
              <a:t>one dimension 1D.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800" b="1" dirty="0"/>
              <a:t>Two types of vectors</a:t>
            </a:r>
          </a:p>
          <a:p>
            <a:pPr marL="0" indent="0">
              <a:buNone/>
            </a:pPr>
            <a:r>
              <a:rPr lang="en-US" sz="1700" dirty="0"/>
              <a:t>Atomic Vectors and List</a:t>
            </a:r>
          </a:p>
          <a:p>
            <a:pPr marL="0" indent="0">
              <a:buNone/>
            </a:pPr>
            <a:r>
              <a:rPr lang="en-US" sz="1700" dirty="0"/>
              <a:t>basic example of Atomic Vector</a:t>
            </a:r>
          </a:p>
          <a:p>
            <a:pPr marL="0" indent="0">
              <a:buNone/>
            </a:pPr>
            <a:r>
              <a:rPr lang="en-US" sz="1700" dirty="0"/>
              <a:t>a&lt;-c(1,3,5,7,9);</a:t>
            </a:r>
          </a:p>
          <a:p>
            <a:pPr marL="0" indent="0">
              <a:buNone/>
            </a:pPr>
            <a:r>
              <a:rPr lang="en-US" sz="1700" dirty="0"/>
              <a:t>b&lt;-2:9</a:t>
            </a:r>
          </a:p>
          <a:p>
            <a:pPr marL="0" indent="0">
              <a:buNone/>
            </a:pPr>
            <a:r>
              <a:rPr lang="en-US" sz="1700" dirty="0"/>
              <a:t>c&lt;-seq(1,7)</a:t>
            </a:r>
          </a:p>
          <a:p>
            <a:pPr marL="0" indent="0">
              <a:buNone/>
            </a:pPr>
            <a:r>
              <a:rPr lang="en-US" sz="1700" dirty="0"/>
              <a:t>d&lt;-seq(1,7,by=.5)</a:t>
            </a:r>
          </a:p>
          <a:p>
            <a:pPr marL="0" indent="0">
              <a:buNone/>
            </a:pPr>
            <a:r>
              <a:rPr lang="en-US" sz="1700" dirty="0"/>
              <a:t>e&lt;-seq(1,7, </a:t>
            </a:r>
            <a:r>
              <a:rPr lang="en-US" sz="1700" dirty="0" err="1"/>
              <a:t>length.out</a:t>
            </a:r>
            <a:r>
              <a:rPr lang="en-US" sz="1700" dirty="0"/>
              <a:t> = 10)</a:t>
            </a:r>
          </a:p>
        </p:txBody>
      </p:sp>
    </p:spTree>
    <p:extLst>
      <p:ext uri="{BB962C8B-B14F-4D97-AF65-F5344CB8AC3E}">
        <p14:creationId xmlns:p14="http://schemas.microsoft.com/office/powerpoint/2010/main" val="3161482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Types of Atomic Vector: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/>
              <a:t>Numeric Vector</a:t>
            </a:r>
          </a:p>
          <a:p>
            <a:pPr marL="0" indent="0">
              <a:buNone/>
            </a:pPr>
            <a:r>
              <a:rPr lang="en-US" sz="1700" dirty="0"/>
              <a:t>	</a:t>
            </a:r>
            <a:r>
              <a:rPr lang="en-US" sz="1700" dirty="0" err="1"/>
              <a:t>numv</a:t>
            </a:r>
            <a:r>
              <a:rPr lang="en-US" sz="1700" dirty="0"/>
              <a:t>&lt;-c(2.7, 3.2, 4.3, 7.9)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/>
              <a:t>Integer Vector</a:t>
            </a:r>
          </a:p>
          <a:p>
            <a:pPr marL="0" indent="0">
              <a:buNone/>
            </a:pPr>
            <a:r>
              <a:rPr lang="en-US" sz="1700" dirty="0"/>
              <a:t>	</a:t>
            </a:r>
            <a:r>
              <a:rPr lang="en-US" sz="1700" dirty="0" err="1"/>
              <a:t>intv</a:t>
            </a:r>
            <a:r>
              <a:rPr lang="en-US" sz="1700" dirty="0"/>
              <a:t>&lt;-c(2, 4, 6,8)</a:t>
            </a:r>
          </a:p>
          <a:p>
            <a:pPr marL="0" indent="0">
              <a:buNone/>
            </a:pPr>
            <a:r>
              <a:rPr lang="en-US" sz="1700" dirty="0"/>
              <a:t>	</a:t>
            </a:r>
            <a:r>
              <a:rPr lang="en-US" sz="1700" dirty="0" err="1"/>
              <a:t>intv</a:t>
            </a:r>
            <a:r>
              <a:rPr lang="en-US" sz="1700" dirty="0"/>
              <a:t>&lt;-</a:t>
            </a:r>
            <a:r>
              <a:rPr lang="en-US" sz="1700" dirty="0" err="1"/>
              <a:t>as.integer</a:t>
            </a:r>
            <a:r>
              <a:rPr lang="en-US" sz="1700" dirty="0"/>
              <a:t>(</a:t>
            </a:r>
            <a:r>
              <a:rPr lang="en-US" sz="1700" dirty="0" err="1"/>
              <a:t>intv</a:t>
            </a:r>
            <a:r>
              <a:rPr lang="en-US" sz="17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/>
              <a:t>Character Vector</a:t>
            </a:r>
          </a:p>
          <a:p>
            <a:pPr marL="0" indent="0">
              <a:buNone/>
            </a:pPr>
            <a:r>
              <a:rPr lang="en-US" sz="1700" dirty="0"/>
              <a:t>	</a:t>
            </a:r>
            <a:r>
              <a:rPr lang="en-US" sz="1700" dirty="0" err="1"/>
              <a:t>charv</a:t>
            </a:r>
            <a:r>
              <a:rPr lang="en-US" sz="1700" dirty="0"/>
              <a:t>&lt;-c(“A”, “B”, “C”, “D”)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/>
              <a:t>Logical Vector</a:t>
            </a:r>
          </a:p>
          <a:p>
            <a:pPr marL="0" indent="0">
              <a:buNone/>
            </a:pPr>
            <a:r>
              <a:rPr lang="en-US" sz="1700" dirty="0"/>
              <a:t>	work on logics</a:t>
            </a:r>
          </a:p>
        </p:txBody>
      </p:sp>
    </p:spTree>
    <p:extLst>
      <p:ext uri="{BB962C8B-B14F-4D97-AF65-F5344CB8AC3E}">
        <p14:creationId xmlns:p14="http://schemas.microsoft.com/office/powerpoint/2010/main" val="3023638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Accessing elements of Vector:</a:t>
            </a:r>
            <a:endParaRPr lang="en-US" sz="1700" b="1" dirty="0"/>
          </a:p>
          <a:p>
            <a:pPr marL="0" indent="0">
              <a:buNone/>
            </a:pPr>
            <a:r>
              <a:rPr lang="en-US" sz="1700" dirty="0"/>
              <a:t>Vector elements could be access using index [ ]</a:t>
            </a:r>
          </a:p>
          <a:p>
            <a:pPr marL="0" indent="0">
              <a:buNone/>
            </a:pPr>
            <a:r>
              <a:rPr lang="en-US" sz="1700" i="1" dirty="0">
                <a:solidFill>
                  <a:srgbClr val="FF0000"/>
                </a:solidFill>
              </a:rPr>
              <a:t>Remember: in R programming, elements start with 1.</a:t>
            </a:r>
          </a:p>
          <a:p>
            <a:pPr marL="0" indent="0">
              <a:buNone/>
            </a:pPr>
            <a:r>
              <a:rPr lang="en-US" sz="1700" dirty="0"/>
              <a:t>charv1&lt;-c(2,4,6,8)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charv</a:t>
            </a:r>
            <a:r>
              <a:rPr lang="en-US" sz="1700" dirty="0"/>
              <a:t>[1])  // will print 2 instead of 4.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charv2&lt;-c(“Ali” = 22, “Hamza” = 27, “</a:t>
            </a:r>
            <a:r>
              <a:rPr lang="en-US" sz="1700" dirty="0" err="1"/>
              <a:t>Muneeb</a:t>
            </a:r>
            <a:r>
              <a:rPr lang="en-US" sz="1700" dirty="0"/>
              <a:t>” = 24)</a:t>
            </a:r>
          </a:p>
          <a:p>
            <a:pPr marL="0" indent="0">
              <a:buNone/>
            </a:pPr>
            <a:r>
              <a:rPr lang="en-US" sz="1700" dirty="0"/>
              <a:t>Print(charv2[“Hamza”]) // will print 27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charv3&lt;-c (“Ali”, “Hamza”, “</a:t>
            </a:r>
            <a:r>
              <a:rPr lang="en-US" sz="1700" dirty="0" err="1"/>
              <a:t>Muneeb</a:t>
            </a:r>
            <a:r>
              <a:rPr lang="en-US" sz="1700" dirty="0"/>
              <a:t>”)</a:t>
            </a:r>
          </a:p>
          <a:p>
            <a:pPr marL="0" indent="0">
              <a:buNone/>
            </a:pPr>
            <a:r>
              <a:rPr lang="en-US" sz="1700" dirty="0"/>
              <a:t>Print(charv3[-2]) -&gt; // will make it an absolute value </a:t>
            </a:r>
            <a:r>
              <a:rPr lang="en-US" sz="1700" dirty="0" err="1"/>
              <a:t>i.e</a:t>
            </a:r>
            <a:r>
              <a:rPr lang="en-US" sz="1700" dirty="0"/>
              <a:t>, 2 and all the elements will be printed instead of 2</a:t>
            </a:r>
          </a:p>
        </p:txBody>
      </p:sp>
    </p:spTree>
    <p:extLst>
      <p:ext uri="{BB962C8B-B14F-4D97-AF65-F5344CB8AC3E}">
        <p14:creationId xmlns:p14="http://schemas.microsoft.com/office/powerpoint/2010/main" val="1683470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Vector operations</a:t>
            </a:r>
            <a:endParaRPr lang="en-US" sz="1700" b="1" dirty="0"/>
          </a:p>
          <a:p>
            <a:pPr marL="0" indent="0">
              <a:buNone/>
            </a:pPr>
            <a:r>
              <a:rPr lang="en-US" sz="1700" dirty="0"/>
              <a:t>Vec1&lt;-c(1, 3, 5, 7, 9)</a:t>
            </a:r>
          </a:p>
          <a:p>
            <a:pPr marL="0" indent="0">
              <a:buNone/>
            </a:pPr>
            <a:r>
              <a:rPr lang="en-US" sz="1700" dirty="0"/>
              <a:t>Vec2&lt;-c(2,4,6,8,10)</a:t>
            </a:r>
          </a:p>
          <a:p>
            <a:pPr marL="0" indent="0">
              <a:buNone/>
            </a:pPr>
            <a:r>
              <a:rPr lang="en-US" sz="1700" dirty="0"/>
              <a:t>Vec1+vec2	</a:t>
            </a:r>
          </a:p>
          <a:p>
            <a:pPr marL="0" indent="0">
              <a:buNone/>
            </a:pPr>
            <a:r>
              <a:rPr lang="en-US" sz="1700" dirty="0"/>
              <a:t>Vec1-vec2 	</a:t>
            </a:r>
          </a:p>
          <a:p>
            <a:pPr marL="0" indent="0">
              <a:buNone/>
            </a:pPr>
            <a:r>
              <a:rPr lang="en-US" sz="1700" dirty="0"/>
              <a:t>Vec1*vec2	</a:t>
            </a:r>
          </a:p>
          <a:p>
            <a:pPr marL="0" indent="0">
              <a:buNone/>
            </a:pPr>
            <a:r>
              <a:rPr lang="en-US" sz="1700" dirty="0"/>
              <a:t>Vec1/vec2 	</a:t>
            </a:r>
          </a:p>
          <a:p>
            <a:pPr marL="0" indent="0">
              <a:buNone/>
            </a:pPr>
            <a:r>
              <a:rPr lang="en-US" sz="1700" dirty="0"/>
              <a:t>Vec1%vec2</a:t>
            </a:r>
          </a:p>
          <a:p>
            <a:pPr marL="0" indent="0">
              <a:buNone/>
            </a:pPr>
            <a:r>
              <a:rPr lang="en-US" sz="1700" dirty="0"/>
              <a:t>Etc..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71874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List (Another DT of Vector)</a:t>
            </a:r>
          </a:p>
          <a:p>
            <a:pPr marL="0" indent="0">
              <a:buNone/>
            </a:pPr>
            <a:r>
              <a:rPr lang="en-US" sz="1800" dirty="0"/>
              <a:t>List contains different types of data unlike atomic vector.</a:t>
            </a:r>
          </a:p>
          <a:p>
            <a:pPr marL="0" indent="0">
              <a:buNone/>
            </a:pPr>
            <a:r>
              <a:rPr lang="en-US" sz="1800" dirty="0"/>
              <a:t>To create list we use list() function.</a:t>
            </a:r>
          </a:p>
          <a:p>
            <a:pPr marL="0" indent="0">
              <a:buNone/>
            </a:pPr>
            <a:r>
              <a:rPr lang="en-US" sz="1700" dirty="0" err="1"/>
              <a:t>e.G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/>
              <a:t>numv</a:t>
            </a:r>
            <a:r>
              <a:rPr lang="en-US" sz="1700" dirty="0"/>
              <a:t>&lt;-(2,4,6,8)</a:t>
            </a:r>
          </a:p>
          <a:p>
            <a:pPr marL="0" indent="0">
              <a:buNone/>
            </a:pPr>
            <a:r>
              <a:rPr lang="en-US" sz="1700" dirty="0" err="1"/>
              <a:t>charv</a:t>
            </a:r>
            <a:r>
              <a:rPr lang="en-US" sz="1700" dirty="0"/>
              <a:t>&lt;-(“A”, “B”, “C”,”D”)</a:t>
            </a:r>
          </a:p>
          <a:p>
            <a:pPr marL="0" indent="0">
              <a:buNone/>
            </a:pPr>
            <a:r>
              <a:rPr lang="en-US" sz="1700" dirty="0" err="1"/>
              <a:t>boolV</a:t>
            </a:r>
            <a:r>
              <a:rPr lang="en-US" sz="1700" dirty="0"/>
              <a:t>&lt;-c(TRUE, FALSE, TRUE, FALSE)</a:t>
            </a:r>
          </a:p>
          <a:p>
            <a:pPr marL="0" indent="0">
              <a:buNone/>
            </a:pPr>
            <a:r>
              <a:rPr lang="en-US" sz="1700" dirty="0"/>
              <a:t>List1&lt;-list(</a:t>
            </a:r>
            <a:r>
              <a:rPr lang="en-US" sz="1700" dirty="0" err="1"/>
              <a:t>numv</a:t>
            </a:r>
            <a:r>
              <a:rPr lang="en-US" sz="1700" dirty="0"/>
              <a:t>, </a:t>
            </a:r>
            <a:r>
              <a:rPr lang="en-US" sz="1700" dirty="0" err="1"/>
              <a:t>charv</a:t>
            </a:r>
            <a:r>
              <a:rPr lang="en-US" sz="1700" dirty="0"/>
              <a:t>, </a:t>
            </a:r>
            <a:r>
              <a:rPr lang="en-US" sz="1700" dirty="0" err="1"/>
              <a:t>boolv</a:t>
            </a:r>
            <a:r>
              <a:rPr lang="en-US" sz="1700" dirty="0"/>
              <a:t>)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51479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List2&lt;-list(“</a:t>
            </a:r>
            <a:r>
              <a:rPr lang="en-US" sz="1800" dirty="0" err="1"/>
              <a:t>Arham</a:t>
            </a:r>
            <a:r>
              <a:rPr lang="en-US" sz="1800" dirty="0"/>
              <a:t>” “Irfan”, c(2,4,6,8), TRUE, FALSE, 2.5, 3L)</a:t>
            </a:r>
          </a:p>
          <a:p>
            <a:pPr marL="0" indent="0">
              <a:buNone/>
            </a:pPr>
            <a:r>
              <a:rPr lang="en-US" sz="1800" dirty="0"/>
              <a:t>Print(list2)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List3&lt;-list(c(“Adil”, “</a:t>
            </a:r>
            <a:r>
              <a:rPr lang="en-US" sz="1800" dirty="0" err="1"/>
              <a:t>Ashar</a:t>
            </a:r>
            <a:r>
              <a:rPr lang="en-US" sz="1800" dirty="0"/>
              <a:t>”, “Ammar”), c(22, 27, 24), list(“Software Engineer”, “Data Scientist”, “Network Assistant”)) -&gt; we can create list within a list</a:t>
            </a:r>
          </a:p>
          <a:p>
            <a:pPr marL="0" indent="0">
              <a:buNone/>
            </a:pPr>
            <a:r>
              <a:rPr lang="en-US" sz="1800" b="1" dirty="0"/>
              <a:t>Naming of list</a:t>
            </a:r>
          </a:p>
          <a:p>
            <a:pPr marL="0" indent="0">
              <a:buNone/>
            </a:pPr>
            <a:r>
              <a:rPr lang="en-US" sz="1700" dirty="0"/>
              <a:t>Names(list3)&lt;-c(“Employees”, “age”, “designation”)</a:t>
            </a:r>
          </a:p>
          <a:p>
            <a:pPr marL="0" indent="0">
              <a:buNone/>
            </a:pPr>
            <a:r>
              <a:rPr lang="en-US" sz="1700" b="1" dirty="0"/>
              <a:t>Accessing List</a:t>
            </a:r>
          </a:p>
          <a:p>
            <a:pPr marL="0" indent="0">
              <a:buNone/>
            </a:pPr>
            <a:r>
              <a:rPr lang="en-US" sz="1700" dirty="0"/>
              <a:t>Print(list3[3]) 	//by index</a:t>
            </a:r>
          </a:p>
          <a:p>
            <a:pPr marL="0" indent="0">
              <a:buNone/>
            </a:pPr>
            <a:r>
              <a:rPr lang="en-US" sz="1700" dirty="0"/>
              <a:t>Print(list3[“designation”])	//by naming of list</a:t>
            </a:r>
          </a:p>
          <a:p>
            <a:pPr marL="0" indent="0">
              <a:buNone/>
            </a:pPr>
            <a:r>
              <a:rPr lang="en-US" sz="1700" dirty="0"/>
              <a:t>Print(list3$designation)	//by dollar ($) sign 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63317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/>
              <a:t>Unlist</a:t>
            </a:r>
            <a:r>
              <a:rPr lang="en-US" sz="1800" b="1" dirty="0"/>
              <a:t>()</a:t>
            </a:r>
          </a:p>
          <a:p>
            <a:pPr marL="0" indent="0">
              <a:buNone/>
            </a:pPr>
            <a:r>
              <a:rPr lang="en-US" sz="1800" dirty="0"/>
              <a:t>It converts list into vector</a:t>
            </a:r>
          </a:p>
          <a:p>
            <a:pPr marL="0" indent="0">
              <a:buNone/>
            </a:pPr>
            <a:r>
              <a:rPr lang="en-US" sz="1800" dirty="0"/>
              <a:t>We need to convert into vector if we want to perform arithmetic operation</a:t>
            </a:r>
          </a:p>
          <a:p>
            <a:pPr marL="0" indent="0">
              <a:buNone/>
            </a:pPr>
            <a:r>
              <a:rPr lang="en-US" sz="1700" dirty="0"/>
              <a:t>List1&lt;-list(2:10)</a:t>
            </a:r>
          </a:p>
          <a:p>
            <a:pPr marL="0" indent="0">
              <a:buNone/>
            </a:pPr>
            <a:r>
              <a:rPr lang="en-US" sz="1700" dirty="0"/>
              <a:t>List2&lt;-list(1:9)</a:t>
            </a:r>
          </a:p>
          <a:p>
            <a:pPr marL="0" indent="0">
              <a:buNone/>
            </a:pPr>
            <a:r>
              <a:rPr lang="en-US" sz="1700" dirty="0"/>
              <a:t>Li1_convert&lt;-</a:t>
            </a:r>
            <a:r>
              <a:rPr lang="en-US" sz="1700" dirty="0" err="1"/>
              <a:t>unlist</a:t>
            </a:r>
            <a:r>
              <a:rPr lang="en-US" sz="1700" dirty="0"/>
              <a:t>(list1)</a:t>
            </a:r>
          </a:p>
          <a:p>
            <a:pPr marL="0" indent="0">
              <a:buNone/>
            </a:pPr>
            <a:r>
              <a:rPr lang="en-US" sz="1700" dirty="0"/>
              <a:t>Li2_convert&lt;-</a:t>
            </a:r>
            <a:r>
              <a:rPr lang="en-US" sz="1700" dirty="0" err="1"/>
              <a:t>unlist</a:t>
            </a:r>
            <a:r>
              <a:rPr lang="en-US" sz="1700" dirty="0"/>
              <a:t>(list2)</a:t>
            </a:r>
          </a:p>
          <a:p>
            <a:pPr marL="0" indent="0">
              <a:buNone/>
            </a:pPr>
            <a:r>
              <a:rPr lang="en-US" sz="1700" dirty="0"/>
              <a:t>Output&lt;- li1+li2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outout</a:t>
            </a:r>
            <a:r>
              <a:rPr lang="en-US" sz="1700" dirty="0"/>
              <a:t>)</a:t>
            </a:r>
          </a:p>
          <a:p>
            <a:pPr marL="0" indent="0">
              <a:buNone/>
            </a:pPr>
            <a:r>
              <a:rPr lang="en-US" sz="1700" dirty="0"/>
              <a:t>Class(li1)</a:t>
            </a:r>
          </a:p>
          <a:p>
            <a:pPr marL="0" indent="0">
              <a:buNone/>
            </a:pPr>
            <a:r>
              <a:rPr lang="en-US" sz="1700" dirty="0" err="1"/>
              <a:t>Typeof</a:t>
            </a:r>
            <a:r>
              <a:rPr lang="en-US" sz="1700" dirty="0"/>
              <a:t>(li1)</a:t>
            </a:r>
          </a:p>
          <a:p>
            <a:pPr marL="0" indent="0">
              <a:buNone/>
            </a:pPr>
            <a:r>
              <a:rPr lang="en-US" sz="1700" dirty="0"/>
              <a:t>Mer&lt;-list(list1,list2)	-&gt; to merge lists</a:t>
            </a:r>
          </a:p>
        </p:txBody>
      </p:sp>
    </p:spTree>
    <p:extLst>
      <p:ext uri="{BB962C8B-B14F-4D97-AF65-F5344CB8AC3E}">
        <p14:creationId xmlns:p14="http://schemas.microsoft.com/office/powerpoint/2010/main" val="4187705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/>
              <a:t>R Vector Functions</a:t>
            </a:r>
          </a:p>
          <a:p>
            <a:pPr marL="0" indent="0">
              <a:buNone/>
            </a:pPr>
            <a:r>
              <a:rPr lang="en-US" sz="1800" b="1" dirty="0"/>
              <a:t>Rep()	</a:t>
            </a:r>
            <a:r>
              <a:rPr lang="en-US" sz="1800" dirty="0"/>
              <a:t>-&gt; used for replication/</a:t>
            </a:r>
            <a:r>
              <a:rPr lang="en-US" sz="1800" dirty="0" err="1"/>
              <a:t>repeatation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Rep(c(2,4,6), time=3)	Rep(c(2,4,6), each=3)</a:t>
            </a:r>
          </a:p>
          <a:p>
            <a:pPr marL="0" indent="0">
              <a:buNone/>
            </a:pPr>
            <a:r>
              <a:rPr lang="en-US" sz="1800" dirty="0"/>
              <a:t>Rep(c(2,4,6), time=c(3,4))	Rep(1:5, </a:t>
            </a:r>
            <a:r>
              <a:rPr lang="en-US" sz="1800" dirty="0" err="1"/>
              <a:t>length.out</a:t>
            </a:r>
            <a:r>
              <a:rPr lang="en-US" sz="1800" dirty="0"/>
              <a:t>=10)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 err="1"/>
              <a:t>Rseq</a:t>
            </a:r>
            <a:r>
              <a:rPr lang="en-US" sz="1800" b="1" dirty="0"/>
              <a:t>()	</a:t>
            </a:r>
            <a:r>
              <a:rPr lang="en-US" sz="1800" dirty="0"/>
              <a:t>-&gt; used for sequence</a:t>
            </a:r>
          </a:p>
          <a:p>
            <a:pPr marL="0" indent="0">
              <a:buNone/>
            </a:pPr>
            <a:r>
              <a:rPr lang="en-US" sz="1800" dirty="0"/>
              <a:t>Seq(from=1.5, to=5.5, by=.5)		Seq(from=5.5, to=1.5, by=-.5)</a:t>
            </a:r>
          </a:p>
          <a:p>
            <a:pPr marL="0" indent="0">
              <a:buNone/>
            </a:pPr>
            <a:r>
              <a:rPr lang="en-US" sz="1800" dirty="0"/>
              <a:t>Seq(from=2.2, to=4.9, </a:t>
            </a:r>
            <a:r>
              <a:rPr lang="en-US" sz="1800" dirty="0" err="1"/>
              <a:t>length.out</a:t>
            </a:r>
            <a:r>
              <a:rPr lang="en-US" sz="1800" dirty="0"/>
              <a:t> = 7)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Any() and all()</a:t>
            </a:r>
          </a:p>
          <a:p>
            <a:pPr marL="0" indent="0">
              <a:buNone/>
            </a:pPr>
            <a:r>
              <a:rPr lang="en-US" sz="1800" dirty="0"/>
              <a:t>X&lt;-1:10</a:t>
            </a:r>
          </a:p>
          <a:p>
            <a:pPr marL="0" indent="0">
              <a:buNone/>
            </a:pPr>
            <a:r>
              <a:rPr lang="en-US" sz="1800" dirty="0"/>
              <a:t>Any(x&gt;5); 	//TRUE</a:t>
            </a:r>
          </a:p>
          <a:p>
            <a:pPr marL="0" indent="0">
              <a:buNone/>
            </a:pPr>
            <a:r>
              <a:rPr lang="en-US" sz="1800" dirty="0"/>
              <a:t>All(x&gt;5); 	//FALSE		All(x&gt;0): 	//TRUE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554089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Array</a:t>
            </a:r>
          </a:p>
          <a:p>
            <a:pPr marL="0" indent="0">
              <a:buNone/>
            </a:pPr>
            <a:r>
              <a:rPr lang="en-US" sz="1700" dirty="0"/>
              <a:t>Arrays are the data objects that allow us to store data in more than two dimensions.</a:t>
            </a:r>
          </a:p>
          <a:p>
            <a:pPr marL="0" indent="0">
              <a:buNone/>
            </a:pPr>
            <a:r>
              <a:rPr lang="en-US" sz="1700" dirty="0"/>
              <a:t>Array is represented in </a:t>
            </a:r>
            <a:r>
              <a:rPr lang="en-US" sz="1700" b="1" dirty="0"/>
              <a:t>more than two dimension 3D, 4D, 5D….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Array() method takes vector as a input and produce an array.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Syntax:</a:t>
            </a:r>
          </a:p>
          <a:p>
            <a:pPr marL="0" indent="0">
              <a:buNone/>
            </a:pPr>
            <a:r>
              <a:rPr lang="en-US" sz="1700" dirty="0" err="1"/>
              <a:t>Array_name</a:t>
            </a:r>
            <a:r>
              <a:rPr lang="en-US" sz="1700" dirty="0"/>
              <a:t>&lt;-array(data, dim=())</a:t>
            </a:r>
          </a:p>
          <a:p>
            <a:pPr marL="0" indent="0">
              <a:buNone/>
            </a:pPr>
            <a:r>
              <a:rPr lang="en-US" sz="1700" b="1" dirty="0"/>
              <a:t>Example:</a:t>
            </a:r>
          </a:p>
          <a:p>
            <a:pPr marL="0" indent="0">
              <a:buNone/>
            </a:pPr>
            <a:r>
              <a:rPr lang="en-US" sz="1700" dirty="0"/>
              <a:t>V1&lt;-c(1,3,5,7,9)</a:t>
            </a:r>
          </a:p>
          <a:p>
            <a:pPr marL="0" indent="0">
              <a:buNone/>
            </a:pPr>
            <a:r>
              <a:rPr lang="en-US" sz="1700" dirty="0"/>
              <a:t>V2&lt;-c(2,4,6,8,10)</a:t>
            </a:r>
          </a:p>
          <a:p>
            <a:pPr marL="0" indent="0">
              <a:buNone/>
            </a:pPr>
            <a:r>
              <a:rPr lang="en-US" sz="1700" dirty="0"/>
              <a:t>V3&lt;-array(c(v1,v2), dim=(3,3,2))	//3 rows, 3 columns, 2 arrays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588981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 err="1"/>
              <a:t>Dimname</a:t>
            </a:r>
            <a:r>
              <a:rPr lang="en-US" sz="1900" b="1" dirty="0"/>
              <a:t> parameter</a:t>
            </a:r>
          </a:p>
          <a:p>
            <a:pPr marL="0" indent="0">
              <a:buNone/>
            </a:pPr>
            <a:r>
              <a:rPr lang="en-US" sz="1800" dirty="0"/>
              <a:t>Used to name the row and column of an array</a:t>
            </a:r>
          </a:p>
          <a:p>
            <a:pPr marL="0" indent="0">
              <a:buNone/>
            </a:pPr>
            <a:r>
              <a:rPr lang="en-US" sz="1800" b="1" dirty="0"/>
              <a:t>Example:</a:t>
            </a:r>
          </a:p>
          <a:p>
            <a:pPr marL="0" indent="0">
              <a:buNone/>
            </a:pPr>
            <a:r>
              <a:rPr lang="en-US" sz="1800" dirty="0"/>
              <a:t>V1&lt;-c(1,3,5,7,9)</a:t>
            </a:r>
          </a:p>
          <a:p>
            <a:pPr marL="0" indent="0">
              <a:buNone/>
            </a:pPr>
            <a:r>
              <a:rPr lang="en-US" sz="1800" dirty="0"/>
              <a:t>V2&lt;-c(2,4,6,8,10)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 err="1"/>
              <a:t>Arr_row</a:t>
            </a:r>
            <a:r>
              <a:rPr lang="en-US" sz="1800" dirty="0"/>
              <a:t>&lt;-c(“r1”, “r2”, “r3”)</a:t>
            </a:r>
          </a:p>
          <a:p>
            <a:pPr marL="0" indent="0">
              <a:buNone/>
            </a:pPr>
            <a:r>
              <a:rPr lang="en-US" sz="1800" dirty="0" err="1"/>
              <a:t>Arr_col</a:t>
            </a:r>
            <a:r>
              <a:rPr lang="en-US" sz="1800" dirty="0"/>
              <a:t>&lt;-c(“c1”, “c2”, “c3”)</a:t>
            </a:r>
          </a:p>
          <a:p>
            <a:pPr marL="0" indent="0">
              <a:buNone/>
            </a:pPr>
            <a:r>
              <a:rPr lang="en-US" sz="1800" dirty="0" err="1"/>
              <a:t>Mat_name</a:t>
            </a:r>
            <a:r>
              <a:rPr lang="en-US" sz="1800" dirty="0"/>
              <a:t>&lt;-c(“mat1”, “mat2”, “mar3”, “mat4”)</a:t>
            </a:r>
          </a:p>
          <a:p>
            <a:pPr marL="0" indent="0">
              <a:buNone/>
            </a:pPr>
            <a:r>
              <a:rPr lang="en-US" sz="1800" dirty="0"/>
              <a:t>V&lt;-array(c(v1,v2), dim=c(3,3,4), </a:t>
            </a:r>
            <a:r>
              <a:rPr lang="en-US" sz="1800" dirty="0" err="1"/>
              <a:t>dimnames</a:t>
            </a:r>
            <a:r>
              <a:rPr lang="en-US" sz="1800" dirty="0"/>
              <a:t>=list(</a:t>
            </a:r>
            <a:r>
              <a:rPr lang="en-US" sz="1800" dirty="0" err="1"/>
              <a:t>arr_row</a:t>
            </a:r>
            <a:r>
              <a:rPr lang="en-US" sz="1800" dirty="0"/>
              <a:t>, </a:t>
            </a:r>
            <a:r>
              <a:rPr lang="en-US" sz="1800" dirty="0" err="1"/>
              <a:t>arr_col</a:t>
            </a:r>
            <a:r>
              <a:rPr lang="en-US" sz="1800" dirty="0"/>
              <a:t>, </a:t>
            </a:r>
            <a:r>
              <a:rPr lang="en-US" sz="1800" dirty="0" err="1"/>
              <a:t>mat_name</a:t>
            </a:r>
            <a:r>
              <a:rPr lang="en-US" sz="1800" dirty="0"/>
              <a:t>))</a:t>
            </a:r>
          </a:p>
          <a:p>
            <a:pPr marL="0" indent="0">
              <a:buNone/>
            </a:pPr>
            <a:r>
              <a:rPr lang="en-US" sz="1800" dirty="0"/>
              <a:t>Print(v)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Accessing an array</a:t>
            </a:r>
          </a:p>
          <a:p>
            <a:pPr marL="0" indent="0">
              <a:buNone/>
            </a:pPr>
            <a:r>
              <a:rPr lang="en-US" sz="1800" dirty="0"/>
              <a:t>Print(v[2,2,2])	Print(v[2,,2])</a:t>
            </a:r>
          </a:p>
          <a:p>
            <a:pPr marL="0" indent="0">
              <a:buNone/>
            </a:pPr>
            <a:r>
              <a:rPr lang="en-US" sz="1800" dirty="0"/>
              <a:t>Print(v[,2,2])	Print(v[,,2])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32865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/>
              <a:t>Manipulation of an array</a:t>
            </a:r>
          </a:p>
          <a:p>
            <a:pPr marL="0" indent="0">
              <a:buNone/>
            </a:pPr>
            <a:r>
              <a:rPr lang="en-US" sz="1700" b="1" dirty="0"/>
              <a:t>//Array 1</a:t>
            </a:r>
          </a:p>
          <a:p>
            <a:pPr marL="0" indent="0">
              <a:buNone/>
            </a:pPr>
            <a:r>
              <a:rPr lang="en-US" sz="1700" dirty="0"/>
              <a:t>V1&lt;-c(1,3,5,7,9)</a:t>
            </a:r>
          </a:p>
          <a:p>
            <a:pPr marL="0" indent="0">
              <a:buNone/>
            </a:pPr>
            <a:r>
              <a:rPr lang="en-US" sz="1700" dirty="0"/>
              <a:t>V2&lt;-c(10,20,30,40,50)</a:t>
            </a:r>
          </a:p>
          <a:p>
            <a:pPr marL="0" indent="0">
              <a:buNone/>
            </a:pPr>
            <a:r>
              <a:rPr lang="en-US" sz="1700" dirty="0"/>
              <a:t>V3&lt;-array(c(v1,v2), dim=(3,3,2))</a:t>
            </a: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700" b="1" dirty="0"/>
              <a:t>//Array 2</a:t>
            </a:r>
          </a:p>
          <a:p>
            <a:pPr marL="0" indent="0">
              <a:buNone/>
            </a:pPr>
            <a:r>
              <a:rPr lang="en-US" sz="1700" dirty="0"/>
              <a:t>V4&lt;-c(2,,4,6,810)</a:t>
            </a:r>
          </a:p>
          <a:p>
            <a:pPr marL="0" indent="0">
              <a:buNone/>
            </a:pPr>
            <a:r>
              <a:rPr lang="en-US" sz="1700" dirty="0"/>
              <a:t>V5&lt;-c(15,25,35,45,55)</a:t>
            </a:r>
          </a:p>
          <a:p>
            <a:pPr marL="0" indent="0">
              <a:buNone/>
            </a:pPr>
            <a:r>
              <a:rPr lang="en-US" sz="1700" dirty="0"/>
              <a:t>V6&lt;-array(c(v4,v5), dim=(3,3,2))</a:t>
            </a:r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800" dirty="0"/>
              <a:t>V7&lt;-v3+v6</a:t>
            </a:r>
          </a:p>
          <a:p>
            <a:pPr marL="0" indent="0">
              <a:buNone/>
            </a:pPr>
            <a:r>
              <a:rPr lang="en-US" sz="1800" dirty="0"/>
              <a:t>Print(v7)</a:t>
            </a:r>
          </a:p>
        </p:txBody>
      </p:sp>
    </p:spTree>
    <p:extLst>
      <p:ext uri="{BB962C8B-B14F-4D97-AF65-F5344CB8AC3E}">
        <p14:creationId xmlns:p14="http://schemas.microsoft.com/office/powerpoint/2010/main" val="744558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Matrix</a:t>
            </a:r>
          </a:p>
          <a:p>
            <a:pPr marL="0" indent="0">
              <a:buNone/>
            </a:pPr>
            <a:r>
              <a:rPr lang="en-US" sz="1700" dirty="0"/>
              <a:t>For </a:t>
            </a:r>
            <a:r>
              <a:rPr lang="en-US" sz="1700" b="1" dirty="0"/>
              <a:t>two dimensions (rows and columns) 2D</a:t>
            </a:r>
            <a:r>
              <a:rPr lang="en-US" sz="1700" dirty="0"/>
              <a:t>, we use matrix.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Syntax:</a:t>
            </a:r>
          </a:p>
          <a:p>
            <a:pPr marL="0" indent="0">
              <a:buNone/>
            </a:pPr>
            <a:r>
              <a:rPr lang="en-US" sz="1700" dirty="0"/>
              <a:t>Matrix(data, </a:t>
            </a:r>
            <a:r>
              <a:rPr lang="en-US" sz="1700" dirty="0" err="1"/>
              <a:t>nrow</a:t>
            </a:r>
            <a:r>
              <a:rPr lang="en-US" sz="1700" dirty="0"/>
              <a:t>, </a:t>
            </a:r>
            <a:r>
              <a:rPr lang="en-US" sz="1700" dirty="0" err="1"/>
              <a:t>ncol</a:t>
            </a:r>
            <a:r>
              <a:rPr lang="en-US" sz="1700" dirty="0"/>
              <a:t>, </a:t>
            </a:r>
            <a:r>
              <a:rPr lang="en-US" sz="1700" dirty="0" err="1"/>
              <a:t>byrow</a:t>
            </a:r>
            <a:r>
              <a:rPr lang="en-US" sz="1700" dirty="0"/>
              <a:t>, </a:t>
            </a:r>
            <a:r>
              <a:rPr lang="en-US" sz="1700" dirty="0" err="1"/>
              <a:t>dim_name</a:t>
            </a:r>
            <a:r>
              <a:rPr lang="en-US" sz="1700" dirty="0"/>
              <a:t>)		//in </a:t>
            </a:r>
            <a:r>
              <a:rPr lang="en-US" sz="1700" dirty="0" err="1"/>
              <a:t>byrow</a:t>
            </a:r>
            <a:r>
              <a:rPr lang="en-US" sz="1700" dirty="0"/>
              <a:t> we provide TRUE or FALSE</a:t>
            </a:r>
          </a:p>
          <a:p>
            <a:pPr marL="0" indent="0">
              <a:buNone/>
            </a:pPr>
            <a:r>
              <a:rPr lang="en-US" sz="1700" b="1" dirty="0"/>
              <a:t>Example:</a:t>
            </a:r>
          </a:p>
          <a:p>
            <a:pPr marL="0" indent="0">
              <a:buNone/>
            </a:pPr>
            <a:r>
              <a:rPr lang="en-US" sz="1700" dirty="0"/>
              <a:t>Mat1&lt;-matrix(c(5:16), </a:t>
            </a:r>
            <a:r>
              <a:rPr lang="en-US" sz="1700" dirty="0" err="1"/>
              <a:t>nrow</a:t>
            </a:r>
            <a:r>
              <a:rPr lang="en-US" sz="1700" dirty="0"/>
              <a:t>=4, </a:t>
            </a:r>
            <a:r>
              <a:rPr lang="en-US" sz="1700" dirty="0" err="1"/>
              <a:t>byrow</a:t>
            </a:r>
            <a:r>
              <a:rPr lang="en-US" sz="1700" dirty="0"/>
              <a:t>= TRUE)</a:t>
            </a:r>
          </a:p>
          <a:p>
            <a:pPr marL="0" indent="0">
              <a:buNone/>
            </a:pPr>
            <a:r>
              <a:rPr lang="en-US" sz="1700" dirty="0"/>
              <a:t>Print(mat1)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/>
              <a:t>Mat2&lt;-matrix(c(5:16), </a:t>
            </a:r>
            <a:r>
              <a:rPr lang="en-US" sz="1700" dirty="0" err="1"/>
              <a:t>nrow</a:t>
            </a:r>
            <a:r>
              <a:rPr lang="en-US" sz="1700" dirty="0"/>
              <a:t>=2, </a:t>
            </a:r>
            <a:r>
              <a:rPr lang="en-US" sz="1700" dirty="0" err="1"/>
              <a:t>ncol</a:t>
            </a:r>
            <a:r>
              <a:rPr lang="en-US" sz="1700" dirty="0"/>
              <a:t>=2, </a:t>
            </a:r>
            <a:r>
              <a:rPr lang="en-US" sz="1700" dirty="0" err="1"/>
              <a:t>byrow</a:t>
            </a:r>
            <a:r>
              <a:rPr lang="en-US" sz="1700" dirty="0"/>
              <a:t>= TRUE)</a:t>
            </a:r>
          </a:p>
          <a:p>
            <a:pPr marL="0" indent="0">
              <a:buNone/>
            </a:pPr>
            <a:r>
              <a:rPr lang="en-US" sz="1700" dirty="0"/>
              <a:t>Print(mat2)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82726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err="1"/>
              <a:t>Dimname</a:t>
            </a:r>
            <a:r>
              <a:rPr lang="en-US" sz="2400" b="1" dirty="0"/>
              <a:t> parameter</a:t>
            </a:r>
          </a:p>
          <a:p>
            <a:pPr marL="0" indent="0">
              <a:buNone/>
            </a:pPr>
            <a:r>
              <a:rPr lang="en-US" sz="1800" dirty="0"/>
              <a:t>Used to name the row and column of matrix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Row_name</a:t>
            </a:r>
            <a:r>
              <a:rPr lang="en-US" sz="1800" dirty="0"/>
              <a:t>&lt;-c(“r1”, “r2”, “r3”)</a:t>
            </a:r>
          </a:p>
          <a:p>
            <a:pPr marL="0" indent="0">
              <a:buNone/>
            </a:pPr>
            <a:r>
              <a:rPr lang="en-US" sz="1800" dirty="0" err="1"/>
              <a:t>Col_name</a:t>
            </a:r>
            <a:r>
              <a:rPr lang="en-US" sz="1800" dirty="0"/>
              <a:t>&lt;-c(“c1”, “c2”, “c3”)</a:t>
            </a:r>
          </a:p>
          <a:p>
            <a:pPr marL="0" indent="0">
              <a:buNone/>
            </a:pPr>
            <a:r>
              <a:rPr lang="en-US" sz="1800" dirty="0"/>
              <a:t>Z&lt;-matrix(c(2:13), </a:t>
            </a:r>
            <a:r>
              <a:rPr lang="en-US" sz="1800" dirty="0" err="1"/>
              <a:t>nrow</a:t>
            </a:r>
            <a:r>
              <a:rPr lang="en-US" sz="1800" dirty="0"/>
              <a:t>=4, </a:t>
            </a:r>
            <a:r>
              <a:rPr lang="en-US" sz="1800" dirty="0" err="1"/>
              <a:t>byrow</a:t>
            </a:r>
            <a:r>
              <a:rPr lang="en-US" sz="1800" dirty="0"/>
              <a:t>=TRUE, </a:t>
            </a:r>
            <a:r>
              <a:rPr lang="en-US" sz="1800" dirty="0" err="1"/>
              <a:t>dimnames</a:t>
            </a:r>
            <a:r>
              <a:rPr lang="en-US" sz="1800" dirty="0"/>
              <a:t>=list(</a:t>
            </a:r>
            <a:r>
              <a:rPr lang="en-US" sz="1800" dirty="0" err="1"/>
              <a:t>row_name</a:t>
            </a:r>
            <a:r>
              <a:rPr lang="en-US" sz="1800" dirty="0"/>
              <a:t>, </a:t>
            </a:r>
            <a:r>
              <a:rPr lang="en-US" sz="1800" dirty="0" err="1"/>
              <a:t>col_name</a:t>
            </a:r>
            <a:r>
              <a:rPr lang="en-US" sz="1800" dirty="0"/>
              <a:t>))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Accessing Matrix:</a:t>
            </a:r>
          </a:p>
          <a:p>
            <a:pPr marL="0" indent="0">
              <a:buNone/>
            </a:pPr>
            <a:r>
              <a:rPr lang="en-US" sz="1800" dirty="0"/>
              <a:t>Print(z[4,3])</a:t>
            </a:r>
          </a:p>
          <a:p>
            <a:pPr marL="0" indent="0">
              <a:buNone/>
            </a:pPr>
            <a:r>
              <a:rPr lang="en-US" sz="1800" dirty="0"/>
              <a:t>Print(z[4,])</a:t>
            </a:r>
          </a:p>
          <a:p>
            <a:pPr marL="0" indent="0">
              <a:buNone/>
            </a:pPr>
            <a:r>
              <a:rPr lang="en-US" sz="1800" dirty="0"/>
              <a:t>Print(z[,3])</a:t>
            </a:r>
          </a:p>
          <a:p>
            <a:pPr marL="0" indent="0">
              <a:buNone/>
            </a:pPr>
            <a:r>
              <a:rPr lang="en-US" sz="1800" dirty="0"/>
              <a:t>Modification in the elements</a:t>
            </a:r>
          </a:p>
          <a:p>
            <a:pPr marL="0" indent="0">
              <a:buNone/>
            </a:pPr>
            <a:r>
              <a:rPr lang="en-US" sz="1800" dirty="0"/>
              <a:t>Z[2,3]&lt;-0	Z[z&gt;13]&lt;-0	Z[z==7]&lt;-0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56823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Cbind</a:t>
            </a:r>
            <a:r>
              <a:rPr lang="en-US" sz="2000" b="1" dirty="0"/>
              <a:t>() and </a:t>
            </a:r>
            <a:r>
              <a:rPr lang="en-US" sz="2000" b="1" dirty="0" err="1"/>
              <a:t>rbind</a:t>
            </a:r>
            <a:r>
              <a:rPr lang="en-US" sz="2000" b="1" dirty="0"/>
              <a:t>()</a:t>
            </a:r>
          </a:p>
          <a:p>
            <a:pPr marL="0" indent="0">
              <a:buNone/>
            </a:pPr>
            <a:r>
              <a:rPr lang="en-US" sz="1700" dirty="0"/>
              <a:t>These methods are used to add a column and rows respectively.</a:t>
            </a:r>
          </a:p>
          <a:p>
            <a:pPr marL="0" indent="0">
              <a:buNone/>
            </a:pPr>
            <a:r>
              <a:rPr lang="en-US" sz="1700" b="1" dirty="0"/>
              <a:t>Example:</a:t>
            </a:r>
          </a:p>
          <a:p>
            <a:pPr marL="0" indent="0">
              <a:buNone/>
            </a:pPr>
            <a:r>
              <a:rPr lang="en-US" sz="1700" dirty="0" err="1"/>
              <a:t>Rbind</a:t>
            </a:r>
            <a:r>
              <a:rPr lang="en-US" sz="1700" dirty="0"/>
              <a:t>(</a:t>
            </a:r>
            <a:r>
              <a:rPr lang="en-US" sz="1700" dirty="0" err="1"/>
              <a:t>z,c</a:t>
            </a:r>
            <a:r>
              <a:rPr lang="en-US" sz="1700" dirty="0"/>
              <a:t>(20,22,24))</a:t>
            </a:r>
          </a:p>
          <a:p>
            <a:pPr marL="0" indent="0">
              <a:buNone/>
            </a:pPr>
            <a:r>
              <a:rPr lang="en-US" sz="1700" dirty="0" err="1"/>
              <a:t>cbind</a:t>
            </a:r>
            <a:r>
              <a:rPr lang="en-US" sz="1700" dirty="0"/>
              <a:t>(</a:t>
            </a:r>
            <a:r>
              <a:rPr lang="en-US" sz="1700" dirty="0" err="1"/>
              <a:t>z,c</a:t>
            </a:r>
            <a:r>
              <a:rPr lang="en-US" sz="1700" dirty="0"/>
              <a:t>(1,1,1))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T() </a:t>
            </a:r>
            <a:r>
              <a:rPr lang="en-US" sz="1700" dirty="0"/>
              <a:t>//transpose function	T(z)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Operation on matrices</a:t>
            </a:r>
          </a:p>
          <a:p>
            <a:pPr marL="0" indent="0">
              <a:buNone/>
            </a:pPr>
            <a:r>
              <a:rPr lang="en-US" sz="1700" dirty="0"/>
              <a:t>Mat1&lt;-matrix(c(5:16), </a:t>
            </a:r>
            <a:r>
              <a:rPr lang="en-US" sz="1700" dirty="0" err="1"/>
              <a:t>nrow</a:t>
            </a:r>
            <a:r>
              <a:rPr lang="en-US" sz="1700" dirty="0"/>
              <a:t>=4, </a:t>
            </a:r>
            <a:r>
              <a:rPr lang="en-US" sz="1700" dirty="0" err="1"/>
              <a:t>ncol</a:t>
            </a:r>
            <a:r>
              <a:rPr lang="en-US" sz="1700" dirty="0"/>
              <a:t>=3, </a:t>
            </a:r>
            <a:r>
              <a:rPr lang="en-US" sz="1700" dirty="0" err="1"/>
              <a:t>byrow</a:t>
            </a:r>
            <a:r>
              <a:rPr lang="en-US" sz="1700" dirty="0"/>
              <a:t>= TRUE)</a:t>
            </a:r>
          </a:p>
          <a:p>
            <a:pPr marL="0" indent="0">
              <a:buNone/>
            </a:pPr>
            <a:r>
              <a:rPr lang="en-US" sz="1700" dirty="0"/>
              <a:t>Mat2&lt;-matrix(c(5:16), </a:t>
            </a:r>
            <a:r>
              <a:rPr lang="en-US" sz="1700" dirty="0" err="1"/>
              <a:t>nrow</a:t>
            </a:r>
            <a:r>
              <a:rPr lang="en-US" sz="1700" dirty="0"/>
              <a:t>=4, </a:t>
            </a:r>
            <a:r>
              <a:rPr lang="en-US" sz="1700" dirty="0" err="1"/>
              <a:t>ncol</a:t>
            </a:r>
            <a:r>
              <a:rPr lang="en-US" sz="1700" dirty="0"/>
              <a:t>=3, </a:t>
            </a:r>
            <a:r>
              <a:rPr lang="en-US" sz="1700" dirty="0" err="1"/>
              <a:t>byrow</a:t>
            </a:r>
            <a:r>
              <a:rPr lang="en-US" sz="1700" dirty="0"/>
              <a:t>= TRUE)</a:t>
            </a:r>
          </a:p>
          <a:p>
            <a:pPr marL="0" indent="0">
              <a:buNone/>
            </a:pPr>
            <a:r>
              <a:rPr lang="en-US" sz="1700" dirty="0"/>
              <a:t>Add&lt;-mat1+mat2		sub&lt;-mat1-mat2		</a:t>
            </a:r>
            <a:r>
              <a:rPr lang="en-US" sz="1700" dirty="0" err="1"/>
              <a:t>mul</a:t>
            </a:r>
            <a:r>
              <a:rPr lang="en-US" sz="1700" dirty="0"/>
              <a:t>&lt;-mat1*mat2		div&lt;-mat1/mat2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641046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Create data frame in R.</a:t>
            </a:r>
          </a:p>
          <a:p>
            <a:pPr marL="0" indent="0">
              <a:buNone/>
            </a:pPr>
            <a:r>
              <a:rPr lang="en-US" sz="1700" dirty="0"/>
              <a:t>One of the important data structure in r programming is data frame</a:t>
            </a:r>
          </a:p>
          <a:p>
            <a:pPr marL="0" indent="0">
              <a:buNone/>
            </a:pPr>
            <a:r>
              <a:rPr lang="en-US" sz="1700" dirty="0"/>
              <a:t>Data frame is actually a Two Dimension Array but unlike an array.</a:t>
            </a:r>
          </a:p>
          <a:p>
            <a:pPr marL="0" indent="0">
              <a:buNone/>
            </a:pPr>
            <a:r>
              <a:rPr lang="en-US" sz="1700" dirty="0"/>
              <a:t>We can store multiple types of data in column of a data frame.</a:t>
            </a:r>
          </a:p>
          <a:p>
            <a:pPr marL="0" indent="0">
              <a:buNone/>
            </a:pPr>
            <a:r>
              <a:rPr lang="en-US" sz="1700" dirty="0"/>
              <a:t>A data frame is a special case of the list in which each component has equal length.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Example:</a:t>
            </a:r>
          </a:p>
          <a:p>
            <a:pPr marL="0" indent="0">
              <a:buNone/>
            </a:pPr>
            <a:r>
              <a:rPr lang="en-US" sz="1700" dirty="0" err="1"/>
              <a:t>std.data</a:t>
            </a:r>
            <a:r>
              <a:rPr lang="en-US" sz="1700" dirty="0"/>
              <a:t>&lt;-</a:t>
            </a:r>
            <a:r>
              <a:rPr lang="en-US" sz="1700" dirty="0" err="1"/>
              <a:t>data.frame</a:t>
            </a:r>
            <a:r>
              <a:rPr lang="en-US" sz="1700" dirty="0"/>
              <a:t>( </a:t>
            </a:r>
          </a:p>
          <a:p>
            <a:pPr marL="0" indent="0">
              <a:buNone/>
            </a:pPr>
            <a:r>
              <a:rPr lang="en-US" sz="1700" dirty="0" err="1"/>
              <a:t>std_id</a:t>
            </a:r>
            <a:r>
              <a:rPr lang="en-US" sz="1700" dirty="0"/>
              <a:t>= c(101, 102, 103),     </a:t>
            </a:r>
            <a:r>
              <a:rPr lang="en-US" sz="1700" dirty="0" err="1"/>
              <a:t>std_name</a:t>
            </a:r>
            <a:r>
              <a:rPr lang="en-US" sz="1700" dirty="0"/>
              <a:t>=c(“</a:t>
            </a:r>
            <a:r>
              <a:rPr lang="en-US" sz="1700" dirty="0" err="1"/>
              <a:t>Sumair</a:t>
            </a:r>
            <a:r>
              <a:rPr lang="en-US" sz="1700" dirty="0"/>
              <a:t>”, “</a:t>
            </a:r>
            <a:r>
              <a:rPr lang="en-US" sz="1700" dirty="0" err="1"/>
              <a:t>Saqlain</a:t>
            </a:r>
            <a:r>
              <a:rPr lang="en-US" sz="1700" dirty="0"/>
              <a:t>”, “</a:t>
            </a:r>
            <a:r>
              <a:rPr lang="en-US" sz="1700" dirty="0" err="1"/>
              <a:t>Saqid</a:t>
            </a:r>
            <a:r>
              <a:rPr lang="en-US" sz="1700" dirty="0"/>
              <a:t>”),</a:t>
            </a:r>
          </a:p>
          <a:p>
            <a:pPr marL="0" indent="0">
              <a:buNone/>
            </a:pPr>
            <a:r>
              <a:rPr lang="en-US" sz="1700" dirty="0"/>
              <a:t>Fees=c(7000, 6500, 8500),    </a:t>
            </a:r>
            <a:r>
              <a:rPr lang="en-US" sz="1700" dirty="0" err="1"/>
              <a:t>Joining_date</a:t>
            </a:r>
            <a:r>
              <a:rPr lang="en-US" sz="1700" dirty="0"/>
              <a:t>=</a:t>
            </a:r>
            <a:r>
              <a:rPr lang="en-US" sz="1700" dirty="0" err="1"/>
              <a:t>as.Date</a:t>
            </a:r>
            <a:r>
              <a:rPr lang="en-US" sz="1700" dirty="0"/>
              <a:t>(c(“2023-12-5”, “2024-01-02”, “2024-01-07”)),</a:t>
            </a:r>
          </a:p>
          <a:p>
            <a:pPr marL="0" indent="0">
              <a:buNone/>
            </a:pPr>
            <a:r>
              <a:rPr lang="en-US" sz="1700" dirty="0" err="1"/>
              <a:t>stringAsFactor</a:t>
            </a:r>
            <a:r>
              <a:rPr lang="en-US" sz="1700" dirty="0"/>
              <a:t> = FALSE</a:t>
            </a:r>
          </a:p>
          <a:p>
            <a:pPr marL="0" indent="0">
              <a:buNone/>
            </a:pPr>
            <a:r>
              <a:rPr lang="en-US" sz="1700" dirty="0"/>
              <a:t>)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91625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6DCC-F54F-40BB-82E4-9B592BDE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D27D-BC47-481F-990D-4E8978EE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730" y="1537252"/>
            <a:ext cx="9949070" cy="502257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/>
              <a:t>Calling data frame.</a:t>
            </a:r>
          </a:p>
          <a:p>
            <a:pPr marL="0" indent="0">
              <a:buNone/>
            </a:pPr>
            <a:r>
              <a:rPr lang="en-US" sz="1700" dirty="0"/>
              <a:t>Print(</a:t>
            </a:r>
            <a:r>
              <a:rPr lang="en-US" sz="1700" dirty="0" err="1"/>
              <a:t>std.data</a:t>
            </a:r>
            <a:r>
              <a:rPr lang="en-US" sz="1700" dirty="0"/>
              <a:t>)	</a:t>
            </a:r>
          </a:p>
          <a:p>
            <a:pPr marL="0" indent="0">
              <a:buNone/>
            </a:pPr>
            <a:r>
              <a:rPr lang="en-US" sz="1700" dirty="0"/>
              <a:t>str(</a:t>
            </a:r>
            <a:r>
              <a:rPr lang="en-US" sz="1700" dirty="0" err="1"/>
              <a:t>std.data</a:t>
            </a:r>
            <a:r>
              <a:rPr lang="en-US" sz="1700" dirty="0"/>
              <a:t>) 	//str stands for structure</a:t>
            </a:r>
          </a:p>
          <a:p>
            <a:pPr marL="0" indent="0">
              <a:buNone/>
            </a:pPr>
            <a:r>
              <a:rPr lang="en-US" sz="1700" dirty="0"/>
              <a:t>Df1&lt;-</a:t>
            </a:r>
            <a:r>
              <a:rPr lang="en-US" sz="1700" dirty="0" err="1"/>
              <a:t>data.frame</a:t>
            </a:r>
            <a:r>
              <a:rPr lang="en-US" sz="1700" dirty="0"/>
              <a:t>(</a:t>
            </a:r>
            <a:r>
              <a:rPr lang="en-US" sz="1700" dirty="0" err="1"/>
              <a:t>std.data$std_name</a:t>
            </a:r>
            <a:r>
              <a:rPr lang="en-US" sz="1700" dirty="0"/>
              <a:t>, </a:t>
            </a:r>
            <a:r>
              <a:rPr lang="en-US" sz="1700" dirty="0" err="1"/>
              <a:t>std.data$fees</a:t>
            </a:r>
            <a:r>
              <a:rPr lang="en-US" sz="1700" dirty="0"/>
              <a:t>)</a:t>
            </a:r>
          </a:p>
          <a:p>
            <a:pPr marL="0" indent="0">
              <a:buNone/>
            </a:pPr>
            <a:r>
              <a:rPr lang="en-US" sz="1700" dirty="0"/>
              <a:t>Print(df1)</a:t>
            </a:r>
          </a:p>
          <a:p>
            <a:pPr marL="0" indent="0">
              <a:buNone/>
            </a:pPr>
            <a:r>
              <a:rPr lang="en-US" sz="1700" dirty="0"/>
              <a:t>Df2&lt;-</a:t>
            </a:r>
            <a:r>
              <a:rPr lang="en-US" sz="1700" dirty="0" err="1"/>
              <a:t>emp.data</a:t>
            </a:r>
            <a:r>
              <a:rPr lang="en-US" sz="1700" dirty="0"/>
              <a:t>[3,5]	Df2&lt;-</a:t>
            </a:r>
            <a:r>
              <a:rPr lang="en-US" sz="1700" dirty="0" err="1"/>
              <a:t>emp.data</a:t>
            </a:r>
            <a:r>
              <a:rPr lang="en-US" sz="1700" dirty="0"/>
              <a:t>[3,] 	Df2&lt;-</a:t>
            </a:r>
            <a:r>
              <a:rPr lang="en-US" sz="1700" dirty="0" err="1"/>
              <a:t>emp.data</a:t>
            </a:r>
            <a:r>
              <a:rPr lang="en-US" sz="1700" dirty="0"/>
              <a:t>[3:6,]</a:t>
            </a:r>
          </a:p>
          <a:p>
            <a:pPr marL="0" indent="0">
              <a:buNone/>
            </a:pPr>
            <a:r>
              <a:rPr lang="en-US" sz="1700" dirty="0"/>
              <a:t>Df2&lt;-</a:t>
            </a:r>
            <a:r>
              <a:rPr lang="en-US" sz="1700" dirty="0" err="1"/>
              <a:t>emp.data</a:t>
            </a:r>
            <a:r>
              <a:rPr lang="en-US" sz="1700" dirty="0"/>
              <a:t>[c(2,3)]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 err="1"/>
              <a:t>Rbind</a:t>
            </a:r>
            <a:r>
              <a:rPr lang="en-US" sz="1700" b="1" dirty="0"/>
              <a:t>() and </a:t>
            </a:r>
            <a:r>
              <a:rPr lang="en-US" sz="1700" b="1" dirty="0" err="1"/>
              <a:t>cbind</a:t>
            </a:r>
            <a:r>
              <a:rPr lang="en-US" sz="1700" b="1" dirty="0"/>
              <a:t>()</a:t>
            </a:r>
          </a:p>
          <a:p>
            <a:pPr marL="0" indent="0">
              <a:buNone/>
            </a:pPr>
            <a:r>
              <a:rPr lang="en-US" sz="1700" dirty="0"/>
              <a:t>X&lt;-list(104, “Sameer”, 8300, “2024-02-17”)</a:t>
            </a:r>
          </a:p>
          <a:p>
            <a:pPr marL="0" indent="0">
              <a:buNone/>
            </a:pPr>
            <a:r>
              <a:rPr lang="en-US" sz="1700" dirty="0" err="1"/>
              <a:t>Rbind</a:t>
            </a:r>
            <a:r>
              <a:rPr lang="en-US" sz="1700" dirty="0"/>
              <a:t>(</a:t>
            </a:r>
            <a:r>
              <a:rPr lang="en-US" sz="1700" dirty="0" err="1"/>
              <a:t>emp.data,x</a:t>
            </a:r>
            <a:r>
              <a:rPr lang="en-US" sz="1700" dirty="0"/>
              <a:t>)</a:t>
            </a:r>
          </a:p>
          <a:p>
            <a:pPr marL="0" indent="0">
              <a:buNone/>
            </a:pPr>
            <a:r>
              <a:rPr lang="en-US" sz="1700" dirty="0"/>
              <a:t>Y&lt;-list(“North Nazimabad”, “</a:t>
            </a:r>
            <a:r>
              <a:rPr lang="en-US" sz="1700" dirty="0" err="1"/>
              <a:t>Sakhi</a:t>
            </a:r>
            <a:r>
              <a:rPr lang="en-US" sz="1700" dirty="0"/>
              <a:t> Hassan”,”</a:t>
            </a:r>
            <a:r>
              <a:rPr lang="en-US" sz="1700" dirty="0" err="1"/>
              <a:t>Baldia</a:t>
            </a:r>
            <a:r>
              <a:rPr lang="en-US" sz="1700" dirty="0"/>
              <a:t>”, “North Karachi”)</a:t>
            </a:r>
          </a:p>
          <a:p>
            <a:pPr marL="0" indent="0">
              <a:buNone/>
            </a:pPr>
            <a:r>
              <a:rPr lang="en-US" sz="1700" dirty="0" err="1"/>
              <a:t>Cbind</a:t>
            </a:r>
            <a:r>
              <a:rPr lang="en-US" sz="1700" dirty="0"/>
              <a:t>(</a:t>
            </a:r>
            <a:r>
              <a:rPr lang="en-US" sz="1700" dirty="0" err="1"/>
              <a:t>emp.data,Address</a:t>
            </a:r>
            <a:r>
              <a:rPr lang="en-US" sz="1700" dirty="0"/>
              <a:t>=y)</a:t>
            </a:r>
          </a:p>
          <a:p>
            <a:pPr marL="0" indent="0">
              <a:buNone/>
            </a:pPr>
            <a:r>
              <a:rPr lang="en-US" sz="1700" dirty="0" err="1"/>
              <a:t>Emp.data</a:t>
            </a:r>
            <a:r>
              <a:rPr lang="en-US" sz="1700" dirty="0"/>
              <a:t>&lt;-</a:t>
            </a:r>
            <a:r>
              <a:rPr lang="en-US" sz="1700" dirty="0" err="1"/>
              <a:t>emp.data</a:t>
            </a:r>
            <a:r>
              <a:rPr lang="en-US" sz="1700" dirty="0"/>
              <a:t>[-2,]		//delete 2</a:t>
            </a:r>
            <a:r>
              <a:rPr lang="en-US" sz="1700" baseline="30000" dirty="0"/>
              <a:t>nd</a:t>
            </a:r>
            <a:r>
              <a:rPr lang="en-US" sz="1700" dirty="0"/>
              <a:t> row</a:t>
            </a:r>
          </a:p>
          <a:p>
            <a:pPr marL="0" indent="0">
              <a:buNone/>
            </a:pPr>
            <a:r>
              <a:rPr lang="en-US" sz="1700" dirty="0" err="1"/>
              <a:t>Emp.data$joining_date</a:t>
            </a:r>
            <a:r>
              <a:rPr lang="en-US" sz="1700" dirty="0"/>
              <a:t>&lt;-NULL	//delete column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971021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793</TotalTime>
  <Words>3981</Words>
  <Application>Microsoft Office PowerPoint</Application>
  <PresentationFormat>Widescreen</PresentationFormat>
  <Paragraphs>524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Courier New</vt:lpstr>
      <vt:lpstr>Tw Cen MT</vt:lpstr>
      <vt:lpstr>Tw Cen MT Condensed</vt:lpstr>
      <vt:lpstr>Wingdings</vt:lpstr>
      <vt:lpstr>Wingdings 3</vt:lpstr>
      <vt:lpstr>Integral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  <vt:lpstr>R Programming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 Programming</dc:title>
  <dc:creator>Faraz Inam</dc:creator>
  <cp:lastModifiedBy>DELL</cp:lastModifiedBy>
  <cp:revision>130</cp:revision>
  <dcterms:created xsi:type="dcterms:W3CDTF">2026-04-21T06:22:37Z</dcterms:created>
  <dcterms:modified xsi:type="dcterms:W3CDTF">2026-05-03T21:51:10Z</dcterms:modified>
</cp:coreProperties>
</file>